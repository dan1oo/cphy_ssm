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9" r:id="rId1"/>
    <p:sldMasterId id="2147483648" r:id="rId2"/>
    <p:sldMasterId id="2147483659" r:id="rId3"/>
    <p:sldMasterId id="2147483669" r:id="rId4"/>
  </p:sldMasterIdLst>
  <p:notesMasterIdLst>
    <p:notesMasterId r:id="rId23"/>
  </p:notesMasterIdLst>
  <p:sldIdLst>
    <p:sldId id="711" r:id="rId5"/>
    <p:sldId id="717" r:id="rId6"/>
    <p:sldId id="733" r:id="rId7"/>
    <p:sldId id="730" r:id="rId8"/>
    <p:sldId id="727" r:id="rId9"/>
    <p:sldId id="738" r:id="rId10"/>
    <p:sldId id="719" r:id="rId11"/>
    <p:sldId id="722" r:id="rId12"/>
    <p:sldId id="724" r:id="rId13"/>
    <p:sldId id="725" r:id="rId14"/>
    <p:sldId id="736" r:id="rId15"/>
    <p:sldId id="721" r:id="rId16"/>
    <p:sldId id="737" r:id="rId17"/>
    <p:sldId id="734" r:id="rId18"/>
    <p:sldId id="723" r:id="rId19"/>
    <p:sldId id="726" r:id="rId20"/>
    <p:sldId id="728" r:id="rId21"/>
    <p:sldId id="739" r:id="rId22"/>
  </p:sldIdLst>
  <p:sldSz cx="9144000" cy="5143500" type="screen16x9"/>
  <p:notesSz cx="6858000" cy="9313863"/>
  <p:defaultTextStyle>
    <a:defPPr>
      <a:defRPr lang="en-US"/>
    </a:defPPr>
    <a:lvl1pPr algn="l" rtl="0" fontAlgn="base">
      <a:spcBef>
        <a:spcPct val="0"/>
      </a:spcBef>
      <a:spcAft>
        <a:spcPct val="0"/>
      </a:spcAft>
      <a:defRPr sz="2400" kern="1200">
        <a:solidFill>
          <a:schemeClr val="tx1"/>
        </a:solidFill>
        <a:latin typeface="Arial" charset="0"/>
        <a:ea typeface="ヒラギノ角ゴ Pro W3"/>
        <a:cs typeface="Arial" charset="0"/>
      </a:defRPr>
    </a:lvl1pPr>
    <a:lvl2pPr marL="457200" algn="l" rtl="0" fontAlgn="base">
      <a:spcBef>
        <a:spcPct val="0"/>
      </a:spcBef>
      <a:spcAft>
        <a:spcPct val="0"/>
      </a:spcAft>
      <a:defRPr sz="2400" kern="1200">
        <a:solidFill>
          <a:schemeClr val="tx1"/>
        </a:solidFill>
        <a:latin typeface="Arial" charset="0"/>
        <a:ea typeface="ヒラギノ角ゴ Pro W3"/>
        <a:cs typeface="Arial" charset="0"/>
      </a:defRPr>
    </a:lvl2pPr>
    <a:lvl3pPr marL="914400" algn="l" rtl="0" fontAlgn="base">
      <a:spcBef>
        <a:spcPct val="0"/>
      </a:spcBef>
      <a:spcAft>
        <a:spcPct val="0"/>
      </a:spcAft>
      <a:defRPr sz="2400" kern="1200">
        <a:solidFill>
          <a:schemeClr val="tx1"/>
        </a:solidFill>
        <a:latin typeface="Arial" charset="0"/>
        <a:ea typeface="ヒラギノ角ゴ Pro W3"/>
        <a:cs typeface="Arial" charset="0"/>
      </a:defRPr>
    </a:lvl3pPr>
    <a:lvl4pPr marL="1371600" algn="l" rtl="0" fontAlgn="base">
      <a:spcBef>
        <a:spcPct val="0"/>
      </a:spcBef>
      <a:spcAft>
        <a:spcPct val="0"/>
      </a:spcAft>
      <a:defRPr sz="2400" kern="1200">
        <a:solidFill>
          <a:schemeClr val="tx1"/>
        </a:solidFill>
        <a:latin typeface="Arial" charset="0"/>
        <a:ea typeface="ヒラギノ角ゴ Pro W3"/>
        <a:cs typeface="Arial" charset="0"/>
      </a:defRPr>
    </a:lvl4pPr>
    <a:lvl5pPr marL="1828800" algn="l" rtl="0" fontAlgn="base">
      <a:spcBef>
        <a:spcPct val="0"/>
      </a:spcBef>
      <a:spcAft>
        <a:spcPct val="0"/>
      </a:spcAft>
      <a:defRPr sz="2400" kern="1200">
        <a:solidFill>
          <a:schemeClr val="tx1"/>
        </a:solidFill>
        <a:latin typeface="Arial" charset="0"/>
        <a:ea typeface="ヒラギノ角ゴ Pro W3"/>
        <a:cs typeface="Arial" charset="0"/>
      </a:defRPr>
    </a:lvl5pPr>
    <a:lvl6pPr marL="2286000" algn="l" defTabSz="914400" rtl="0" eaLnBrk="1" latinLnBrk="0" hangingPunct="1">
      <a:defRPr sz="2400" kern="1200">
        <a:solidFill>
          <a:schemeClr val="tx1"/>
        </a:solidFill>
        <a:latin typeface="Arial" charset="0"/>
        <a:ea typeface="ヒラギノ角ゴ Pro W3"/>
        <a:cs typeface="Arial" charset="0"/>
      </a:defRPr>
    </a:lvl6pPr>
    <a:lvl7pPr marL="2743200" algn="l" defTabSz="914400" rtl="0" eaLnBrk="1" latinLnBrk="0" hangingPunct="1">
      <a:defRPr sz="2400" kern="1200">
        <a:solidFill>
          <a:schemeClr val="tx1"/>
        </a:solidFill>
        <a:latin typeface="Arial" charset="0"/>
        <a:ea typeface="ヒラギノ角ゴ Pro W3"/>
        <a:cs typeface="Arial" charset="0"/>
      </a:defRPr>
    </a:lvl7pPr>
    <a:lvl8pPr marL="3200400" algn="l" defTabSz="914400" rtl="0" eaLnBrk="1" latinLnBrk="0" hangingPunct="1">
      <a:defRPr sz="2400" kern="1200">
        <a:solidFill>
          <a:schemeClr val="tx1"/>
        </a:solidFill>
        <a:latin typeface="Arial" charset="0"/>
        <a:ea typeface="ヒラギノ角ゴ Pro W3"/>
        <a:cs typeface="Arial" charset="0"/>
      </a:defRPr>
    </a:lvl8pPr>
    <a:lvl9pPr marL="3657600" algn="l" defTabSz="914400" rtl="0" eaLnBrk="1" latinLnBrk="0" hangingPunct="1">
      <a:defRPr sz="2400" kern="1200">
        <a:solidFill>
          <a:schemeClr val="tx1"/>
        </a:solidFill>
        <a:latin typeface="Arial" charset="0"/>
        <a:ea typeface="ヒラギノ角ゴ Pro W3"/>
        <a:cs typeface="Arial" charset="0"/>
      </a:defRPr>
    </a:lvl9pPr>
  </p:defaultTextStyle>
  <p:extLst>
    <p:ext uri="{521415D9-36F7-43E2-AB2F-B90AF26B5E84}">
      <p14:sectionLst xmlns:p14="http://schemas.microsoft.com/office/powerpoint/2010/main">
        <p14:section name="Untitled Section" id="{3540F3E4-3A56-594D-A98C-62123F4F527F}">
          <p14:sldIdLst>
            <p14:sldId id="711"/>
            <p14:sldId id="717"/>
            <p14:sldId id="733"/>
            <p14:sldId id="730"/>
            <p14:sldId id="727"/>
            <p14:sldId id="738"/>
            <p14:sldId id="719"/>
            <p14:sldId id="722"/>
            <p14:sldId id="724"/>
            <p14:sldId id="725"/>
            <p14:sldId id="736"/>
            <p14:sldId id="721"/>
            <p14:sldId id="737"/>
            <p14:sldId id="734"/>
            <p14:sldId id="723"/>
            <p14:sldId id="726"/>
            <p14:sldId id="728"/>
            <p14:sldId id="7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p:clrMru>
    <a:srgbClr val="BF5700"/>
    <a:srgbClr val="C6531F"/>
    <a:srgbClr val="C01338"/>
    <a:srgbClr val="C00000"/>
    <a:srgbClr val="79C82A"/>
    <a:srgbClr val="DE7E7A"/>
    <a:srgbClr val="D61C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054F00-3685-A77B-593A-019F2BDA7AEB}" v="437" dt="2025-12-02T17:15:41.866"/>
    <p1510:client id="{373A8B6B-635A-7F76-705B-D24B22FD494F}" v="1907" dt="2025-12-02T06:39:25.128"/>
    <p1510:client id="{4C02EF31-3EE1-0EB3-037A-E03171654E93}" v="925" dt="2025-12-02T07:35:28.767"/>
    <p1510:client id="{59CDE5DB-3AD5-BA5C-E089-5CB5492D16D6}" v="4" dt="2025-12-02T04:31:37.516"/>
    <p1510:client id="{7F2384C7-D43B-51C7-1C03-F30CA564C9BC}" v="18" dt="2025-12-02T15:22:15.482"/>
    <p1510:client id="{A9709CDE-9A6D-5640-9B27-C7232500BA51}" v="13" dt="2025-12-02T16:48:41.619"/>
    <p1510:client id="{AAC086CE-DA5A-1D60-46E8-8B69A55AA067}" v="754" dt="2025-12-02T05:48:38.860"/>
    <p1510:client id="{AB0CCB62-6DB2-63A5-65B9-6755187F3777}" v="3786" dt="2025-12-02T09:06:06.833"/>
    <p1510:client id="{ACC5F4A2-8335-A079-9C9C-157440CBC556}" v="156" dt="2025-12-02T15:15:18.728"/>
    <p1510:client id="{CE482C87-E6BD-A153-BE89-5BEC7FC21515}" v="1179" dt="2025-12-02T04:27:32.125"/>
    <p1510:client id="{D198D17F-DEC4-834E-60B4-D00BB2A455EC}" v="26" dt="2025-12-02T17:11:19.454"/>
    <p1510:client id="{E687FB1E-FF26-1A7E-F413-7D04068D5E29}" v="107" dt="2025-12-02T15:35:55.394"/>
    <p1510:client id="{F424F43A-B14F-2E2C-73C5-0911E4715FD3}" v="616" dt="2025-12-02T02:57:48.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65693"/>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lvl1pPr eaLnBrk="0" hangingPunct="0">
              <a:defRPr sz="1200">
                <a:cs typeface="ヒラギノ角ゴ Pro W3"/>
              </a:defRPr>
            </a:lvl1pPr>
          </a:lstStyle>
          <a:p>
            <a:pPr>
              <a:defRPr/>
            </a:pPr>
            <a:endParaRPr lang="en-US"/>
          </a:p>
        </p:txBody>
      </p:sp>
      <p:sp>
        <p:nvSpPr>
          <p:cNvPr id="24579" name="Rectangle 3"/>
          <p:cNvSpPr>
            <a:spLocks noGrp="1" noChangeArrowheads="1"/>
          </p:cNvSpPr>
          <p:nvPr>
            <p:ph type="dt" idx="1"/>
          </p:nvPr>
        </p:nvSpPr>
        <p:spPr bwMode="auto">
          <a:xfrm>
            <a:off x="3884613" y="0"/>
            <a:ext cx="2971800" cy="465693"/>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lvl1pPr algn="r" eaLnBrk="0" hangingPunct="0">
              <a:defRPr sz="1200">
                <a:cs typeface="ヒラギノ角ゴ Pro W3"/>
              </a:defRPr>
            </a:lvl1pPr>
          </a:lstStyle>
          <a:p>
            <a:pPr>
              <a:defRPr/>
            </a:pPr>
            <a:fld id="{F6FD56A5-6355-4B13-B783-7CC5477550B3}" type="datetimeFigureOut">
              <a:rPr lang="en-US"/>
              <a:pPr>
                <a:defRPr/>
              </a:pPr>
              <a:t>1/24/2026</a:t>
            </a:fld>
            <a:endParaRPr lang="en-US"/>
          </a:p>
        </p:txBody>
      </p:sp>
      <p:sp>
        <p:nvSpPr>
          <p:cNvPr id="16388" name="Rectangle 4"/>
          <p:cNvSpPr>
            <a:spLocks noGrp="1" noRot="1" noChangeAspect="1" noChangeArrowheads="1" noTextEdit="1"/>
          </p:cNvSpPr>
          <p:nvPr>
            <p:ph type="sldImg" idx="2"/>
          </p:nvPr>
        </p:nvSpPr>
        <p:spPr bwMode="auto">
          <a:xfrm>
            <a:off x="327025" y="700088"/>
            <a:ext cx="6203950" cy="3490912"/>
          </a:xfrm>
          <a:prstGeom prst="rect">
            <a:avLst/>
          </a:prstGeom>
          <a:noFill/>
          <a:ln w="9525">
            <a:solidFill>
              <a:srgbClr val="000000"/>
            </a:solidFill>
            <a:miter lim="800000"/>
            <a:headEnd/>
            <a:tailEnd/>
          </a:ln>
        </p:spPr>
        <p:txBody>
          <a:bodyPr/>
          <a:lstStyle/>
          <a:p>
            <a:endParaRPr lang="en-US"/>
          </a:p>
        </p:txBody>
      </p:sp>
      <p:sp>
        <p:nvSpPr>
          <p:cNvPr id="24581" name="Rectangle 5"/>
          <p:cNvSpPr>
            <a:spLocks noGrp="1" noChangeArrowheads="1"/>
          </p:cNvSpPr>
          <p:nvPr>
            <p:ph type="body" sz="quarter" idx="3"/>
          </p:nvPr>
        </p:nvSpPr>
        <p:spPr bwMode="auto">
          <a:xfrm>
            <a:off x="685800" y="4424085"/>
            <a:ext cx="5486400" cy="4191238"/>
          </a:xfrm>
          <a:prstGeom prst="rect">
            <a:avLst/>
          </a:prstGeom>
          <a:noFill/>
          <a:ln w="9525">
            <a:noFill/>
            <a:miter lim="800000"/>
            <a:headEnd/>
            <a:tailEnd/>
          </a:ln>
          <a:effectLst/>
        </p:spPr>
        <p:txBody>
          <a:bodyPr vert="horz" wrap="square" lIns="91332" tIns="45666" rIns="91332" bIns="4566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8846554"/>
            <a:ext cx="2971800" cy="465693"/>
          </a:xfrm>
          <a:prstGeom prst="rect">
            <a:avLst/>
          </a:prstGeom>
          <a:noFill/>
          <a:ln w="9525">
            <a:noFill/>
            <a:miter lim="800000"/>
            <a:headEnd/>
            <a:tailEnd/>
          </a:ln>
          <a:effectLst/>
        </p:spPr>
        <p:txBody>
          <a:bodyPr vert="horz" wrap="square" lIns="91332" tIns="45666" rIns="91332" bIns="45666" numCol="1" anchor="b" anchorCtr="0" compatLnSpc="1">
            <a:prstTxWarp prst="textNoShape">
              <a:avLst/>
            </a:prstTxWarp>
          </a:bodyPr>
          <a:lstStyle>
            <a:lvl1pPr eaLnBrk="0" hangingPunct="0">
              <a:defRPr sz="1200">
                <a:cs typeface="ヒラギノ角ゴ Pro W3"/>
              </a:defRPr>
            </a:lvl1pPr>
          </a:lstStyle>
          <a:p>
            <a:pPr>
              <a:defRPr/>
            </a:pPr>
            <a:endParaRPr lang="en-US"/>
          </a:p>
        </p:txBody>
      </p:sp>
      <p:sp>
        <p:nvSpPr>
          <p:cNvPr id="24583" name="Rectangle 7"/>
          <p:cNvSpPr>
            <a:spLocks noGrp="1" noChangeArrowheads="1"/>
          </p:cNvSpPr>
          <p:nvPr>
            <p:ph type="sldNum" sz="quarter" idx="5"/>
          </p:nvPr>
        </p:nvSpPr>
        <p:spPr bwMode="auto">
          <a:xfrm>
            <a:off x="3884613" y="8846554"/>
            <a:ext cx="2971800" cy="465693"/>
          </a:xfrm>
          <a:prstGeom prst="rect">
            <a:avLst/>
          </a:prstGeom>
          <a:noFill/>
          <a:ln w="9525">
            <a:noFill/>
            <a:miter lim="800000"/>
            <a:headEnd/>
            <a:tailEnd/>
          </a:ln>
          <a:effectLst/>
        </p:spPr>
        <p:txBody>
          <a:bodyPr vert="horz" wrap="square" lIns="91332" tIns="45666" rIns="91332" bIns="45666" numCol="1" anchor="b" anchorCtr="0" compatLnSpc="1">
            <a:prstTxWarp prst="textNoShape">
              <a:avLst/>
            </a:prstTxWarp>
          </a:bodyPr>
          <a:lstStyle>
            <a:lvl1pPr algn="r" eaLnBrk="0" hangingPunct="0">
              <a:defRPr sz="1200">
                <a:cs typeface="ヒラギノ角ゴ Pro W3"/>
              </a:defRPr>
            </a:lvl1pPr>
          </a:lstStyle>
          <a:p>
            <a:pPr>
              <a:defRPr/>
            </a:pPr>
            <a:fld id="{6E074355-CE0D-4C68-A6CB-C364ED71B33B}" type="slidenum">
              <a:rPr lang="en-US"/>
              <a:pPr>
                <a:defRPr/>
              </a:pPr>
              <a:t>‹#›</a:t>
            </a:fld>
            <a:endParaRPr lang="en-US"/>
          </a:p>
        </p:txBody>
      </p:sp>
    </p:spTree>
    <p:extLst>
      <p:ext uri="{BB962C8B-B14F-4D97-AF65-F5344CB8AC3E}">
        <p14:creationId xmlns:p14="http://schemas.microsoft.com/office/powerpoint/2010/main" val="15090979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Calibri"/>
                <a:ea typeface="Calibri"/>
                <a:cs typeface="Calibri"/>
              </a:rPr>
              <a:t>Lily + </a:t>
            </a:r>
            <a:r>
              <a:rPr lang="en-US" err="1">
                <a:latin typeface="Calibri"/>
                <a:ea typeface="Calibri"/>
                <a:cs typeface="Calibri"/>
              </a:rPr>
              <a:t>Nurali</a:t>
            </a:r>
            <a:endParaRPr lang="en-US">
              <a:ea typeface="Calibri"/>
              <a:cs typeface="Calibri"/>
            </a:endParaRPr>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a:t>
            </a:fld>
            <a:endParaRPr lang="en-US"/>
          </a:p>
        </p:txBody>
      </p:sp>
    </p:spTree>
    <p:extLst>
      <p:ext uri="{BB962C8B-B14F-4D97-AF65-F5344CB8AC3E}">
        <p14:creationId xmlns:p14="http://schemas.microsoft.com/office/powerpoint/2010/main" val="1468799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a:ea typeface="Calibri"/>
              <a:cs typeface="Calibri"/>
            </a:endParaRPr>
          </a:p>
          <a:p>
            <a:endParaRPr lang="en-US">
              <a:ea typeface="Calibri"/>
              <a:cs typeface="Calibri"/>
            </a:endParaRPr>
          </a:p>
          <a:p>
            <a:r>
              <a:rPr lang="en-US">
                <a:latin typeface="Calibri"/>
                <a:ea typeface="Calibri"/>
                <a:cs typeface="Calibri"/>
              </a:rPr>
              <a:t>In control and dynamics theory, state space models are linear mappings from input signal to output signal</a:t>
            </a:r>
            <a:endParaRPr lang="en-US">
              <a:ea typeface="Calibri"/>
              <a:cs typeface="Calibri"/>
            </a:endParaRPr>
          </a:p>
          <a:p>
            <a:endParaRPr lang="en-US">
              <a:ea typeface="Calibri"/>
              <a:cs typeface="Calibri"/>
            </a:endParaRPr>
          </a:p>
          <a:p>
            <a:r>
              <a:rPr lang="en-US"/>
              <a:t>We will</a:t>
            </a:r>
          </a:p>
          <a:p>
            <a:r>
              <a:rPr lang="en-US"/>
              <a:t>call this system an LTI-SSM, or T-SSM for short.</a:t>
            </a:r>
          </a:p>
          <a:p>
            <a:r>
              <a:rPr lang="en-US">
                <a:latin typeface="Calibri"/>
                <a:ea typeface="Calibri"/>
                <a:cs typeface="Calibri"/>
              </a:rPr>
              <a:t>The majority of our treatment of SSMs will be in the LTI setting because of this connection</a:t>
            </a:r>
          </a:p>
          <a:p>
            <a:r>
              <a:rPr lang="en-US">
                <a:latin typeface="Calibri"/>
                <a:ea typeface="Calibri"/>
                <a:cs typeface="Calibri"/>
              </a:rPr>
              <a:t>to convolutions. In the remainder of this thesis, we will always use SSM to refer to a T-</a:t>
            </a:r>
          </a:p>
          <a:p>
            <a:r>
              <a:rPr lang="en-US">
                <a:latin typeface="Calibri"/>
                <a:ea typeface="Calibri"/>
                <a:cs typeface="Calibri"/>
              </a:rPr>
              <a:t>SSM and drop the T- for brevity, except in contexts where we wish to disambiguate different</a:t>
            </a:r>
          </a:p>
          <a:p>
            <a:r>
              <a:rPr lang="en-US">
                <a:latin typeface="Calibri"/>
                <a:ea typeface="Calibri"/>
                <a:cs typeface="Calibri"/>
              </a:rPr>
              <a:t>settings (Chapters 4 and 5). We will call systems that are not time-invariant time-varying</a:t>
            </a:r>
          </a:p>
          <a:p>
            <a:r>
              <a:rPr lang="en-US">
                <a:latin typeface="Calibri"/>
                <a:ea typeface="Calibri"/>
                <a:cs typeface="Calibri"/>
              </a:rPr>
              <a:t>SSMs. Notationally, the t-dependence is dropped for T-SSMs, i.e. (A(t), B(t), C(t)) is</a:t>
            </a:r>
          </a:p>
          <a:p>
            <a:r>
              <a:rPr lang="en-US">
                <a:latin typeface="Calibri"/>
                <a:ea typeface="Calibri"/>
                <a:cs typeface="Calibri"/>
              </a:rPr>
              <a:t>replaced with (A, B, C).</a:t>
            </a:r>
          </a:p>
          <a:p>
            <a:endParaRPr lang="en-US">
              <a:ea typeface="Calibri"/>
              <a:cs typeface="Calibri"/>
            </a:endParaRPr>
          </a:p>
          <a:p>
            <a:r>
              <a:rPr lang="en-US" err="1">
                <a:latin typeface="Calibri"/>
                <a:ea typeface="Calibri"/>
                <a:cs typeface="Calibri"/>
              </a:rPr>
              <a:t>Recurrenct</a:t>
            </a:r>
            <a:r>
              <a:rPr lang="en-US">
                <a:latin typeface="Calibri"/>
                <a:ea typeface="Calibri"/>
                <a:cs typeface="Calibri"/>
              </a:rPr>
              <a:t> = in order to predict some </a:t>
            </a:r>
            <a:r>
              <a:rPr lang="en-US" err="1">
                <a:latin typeface="Calibri"/>
                <a:ea typeface="Calibri"/>
                <a:cs typeface="Calibri"/>
              </a:rPr>
              <a:t>k'th</a:t>
            </a:r>
            <a:r>
              <a:rPr lang="en-US">
                <a:latin typeface="Calibri"/>
                <a:ea typeface="Calibri"/>
                <a:cs typeface="Calibri"/>
              </a:rPr>
              <a:t> element of the output sequence, you need to process all elements of the input sequence up to '</a:t>
            </a:r>
            <a:r>
              <a:rPr lang="en-US" err="1">
                <a:latin typeface="Calibri"/>
                <a:ea typeface="Calibri"/>
                <a:cs typeface="Calibri"/>
              </a:rPr>
              <a:t>k'th</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3</a:t>
            </a:fld>
            <a:endParaRPr lang="en-US"/>
          </a:p>
        </p:txBody>
      </p:sp>
    </p:spTree>
    <p:extLst>
      <p:ext uri="{BB962C8B-B14F-4D97-AF65-F5344CB8AC3E}">
        <p14:creationId xmlns:p14="http://schemas.microsoft.com/office/powerpoint/2010/main" val="2552791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pPr marL="171450" indent="-171450">
              <a:buFont typeface="Calibri"/>
              <a:buChar char="-"/>
            </a:pPr>
            <a:r>
              <a:rPr lang="en-US">
                <a:latin typeface="Calibri"/>
                <a:ea typeface="Calibri"/>
                <a:cs typeface="Calibri"/>
              </a:rPr>
              <a:t>Implemented simplified version of S4 model from Gu et al. (2022)</a:t>
            </a:r>
          </a:p>
          <a:p>
            <a:pPr marL="171450" indent="-171450">
              <a:buFont typeface="Calibri"/>
              <a:buChar char="-"/>
            </a:pPr>
            <a:r>
              <a:rPr lang="en-US">
                <a:latin typeface="Calibri"/>
                <a:ea typeface="Calibri"/>
                <a:cs typeface="Calibri"/>
              </a:rPr>
              <a:t>Based on a Structured state space model where hidden states evolve over time and produce outputs at each step</a:t>
            </a:r>
          </a:p>
          <a:p>
            <a:pPr marL="171450" indent="-171450">
              <a:buFont typeface="Calibri"/>
              <a:buChar char="-"/>
            </a:pPr>
            <a:r>
              <a:rPr lang="en-US">
                <a:latin typeface="Calibri"/>
                <a:ea typeface="Calibri"/>
                <a:cs typeface="Calibri"/>
              </a:rPr>
              <a:t>Used the HiPPO-LegS </a:t>
            </a:r>
            <a:r>
              <a:rPr lang="en-US" err="1">
                <a:latin typeface="Calibri"/>
                <a:ea typeface="Calibri"/>
                <a:cs typeface="Calibri"/>
              </a:rPr>
              <a:t>operatore</a:t>
            </a:r>
            <a:r>
              <a:rPr lang="en-US">
                <a:latin typeface="Calibri"/>
                <a:ea typeface="Calibri"/>
                <a:cs typeface="Calibri"/>
              </a:rPr>
              <a:t> to define continuous-time matrix A, then discretized A using bilinear (</a:t>
            </a:r>
            <a:r>
              <a:rPr lang="en-US" err="1">
                <a:latin typeface="Calibri"/>
                <a:ea typeface="Calibri"/>
                <a:cs typeface="Calibri"/>
              </a:rPr>
              <a:t>tustin</a:t>
            </a:r>
            <a:r>
              <a:rPr lang="en-US">
                <a:latin typeface="Calibri"/>
                <a:ea typeface="Calibri"/>
                <a:cs typeface="Calibri"/>
              </a:rPr>
              <a:t>) transform to operate in discrete time</a:t>
            </a:r>
          </a:p>
          <a:p>
            <a:pPr marL="171450" indent="-171450">
              <a:buFont typeface="Calibri"/>
              <a:buChar char="-"/>
            </a:pPr>
            <a:r>
              <a:rPr lang="en-US">
                <a:latin typeface="Calibri"/>
                <a:ea typeface="Calibri"/>
                <a:cs typeface="Calibri"/>
              </a:rPr>
              <a:t>System follows linear recurrence relation (numerical methods..)</a:t>
            </a:r>
          </a:p>
          <a:p>
            <a:pPr marL="171450" indent="-171450">
              <a:buFont typeface="Calibri"/>
              <a:buChar char="-"/>
            </a:pPr>
            <a:r>
              <a:rPr lang="en-US">
                <a:latin typeface="Calibri"/>
                <a:ea typeface="Calibri"/>
                <a:cs typeface="Calibri"/>
              </a:rPr>
              <a:t>Training is done with gradient descent + BPTT (BPTT: gradient-based method for training RNNS, calculates ad propagates errors backward through each time step to update the network's weights -&gt; learn long-term dependencies in sequential data)</a:t>
            </a:r>
          </a:p>
          <a:p>
            <a:pPr marL="171450" indent="-171450">
              <a:buFont typeface="Calibri"/>
              <a:buChar char="-"/>
            </a:pPr>
            <a:r>
              <a:rPr lang="en-US">
                <a:latin typeface="Calibri"/>
                <a:ea typeface="Calibri"/>
                <a:cs typeface="Calibri"/>
              </a:rPr>
              <a:t>Main idea: simplified model; we don't implement the FFT-based convolution kernel from </a:t>
            </a:r>
            <a:r>
              <a:rPr lang="en-US" err="1">
                <a:latin typeface="Calibri"/>
                <a:ea typeface="Calibri"/>
                <a:cs typeface="Calibri"/>
              </a:rPr>
              <a:t>og</a:t>
            </a:r>
            <a:r>
              <a:rPr lang="en-US">
                <a:latin typeface="Calibri"/>
                <a:ea typeface="Calibri"/>
                <a:cs typeface="Calibri"/>
              </a:rPr>
              <a:t> S4 paper (mentioned in future work section)</a:t>
            </a:r>
          </a:p>
          <a:p>
            <a:endParaRPr lang="en-US">
              <a:latin typeface="Calibri"/>
              <a:ea typeface="Calibri"/>
              <a:cs typeface="Calibri"/>
            </a:endParaRPr>
          </a:p>
          <a:p>
            <a:r>
              <a:rPr lang="en-US">
                <a:latin typeface="Calibri"/>
                <a:ea typeface="Calibri"/>
                <a:cs typeface="Calibri"/>
              </a:rPr>
              <a:t>NOTE: matrix D is an instantaneous connection between input u(t) and output y(t), but since we discretize the SSM we can omit D</a:t>
            </a:r>
          </a:p>
          <a:p>
            <a:endParaRPr lang="en-US">
              <a:latin typeface="Calibri"/>
              <a:ea typeface="Calibri"/>
              <a:cs typeface="Calibri"/>
            </a:endParaRPr>
          </a:p>
          <a:p>
            <a:r>
              <a:rPr lang="en-US">
                <a:latin typeface="Calibri"/>
                <a:ea typeface="Calibri"/>
                <a:cs typeface="Calibri"/>
              </a:rPr>
              <a:t>Figure from paper highlights 3 core ideas behind the model:</a:t>
            </a:r>
          </a:p>
          <a:p>
            <a:pPr marL="171450" indent="-171450">
              <a:buFont typeface="Calibri"/>
              <a:buChar char="-"/>
            </a:pPr>
            <a:r>
              <a:rPr lang="en-US">
                <a:latin typeface="Calibri"/>
                <a:ea typeface="Calibri"/>
                <a:cs typeface="Calibri"/>
              </a:rPr>
              <a:t>Left: model starts from continuous-time state space system governed by differential equations</a:t>
            </a:r>
          </a:p>
          <a:p>
            <a:pPr marL="800100" lvl="1" indent="-171450">
              <a:buFont typeface="Courier New"/>
              <a:buChar char="o"/>
            </a:pPr>
            <a:r>
              <a:rPr lang="en-US" err="1">
                <a:latin typeface="Calibri"/>
                <a:ea typeface="Calibri"/>
                <a:cs typeface="Calibri"/>
              </a:rPr>
              <a:t>Eqns</a:t>
            </a:r>
            <a:r>
              <a:rPr lang="en-US">
                <a:latin typeface="Calibri"/>
                <a:ea typeface="Calibri"/>
                <a:cs typeface="Calibri"/>
              </a:rPr>
              <a:t> describe how a hidden state x(t) evolves over time to an input u(t), and how output y(t) is produced</a:t>
            </a:r>
          </a:p>
          <a:p>
            <a:pPr marL="171450" indent="-171450">
              <a:buFont typeface="Calibri"/>
              <a:buChar char="-"/>
            </a:pPr>
            <a:r>
              <a:rPr lang="en-US">
                <a:latin typeface="Calibri"/>
                <a:ea typeface="Calibri"/>
                <a:cs typeface="Calibri"/>
              </a:rPr>
              <a:t>Middle: to capture long-range dependencies, S4 chooses matrix A to preserve memory over long time scales</a:t>
            </a:r>
          </a:p>
          <a:p>
            <a:pPr marL="800100" lvl="1" indent="-171450">
              <a:buFont typeface="Courier New"/>
              <a:buChar char="o"/>
            </a:pPr>
            <a:r>
              <a:rPr lang="en-US">
                <a:latin typeface="Calibri"/>
                <a:ea typeface="Calibri"/>
                <a:cs typeface="Calibri"/>
              </a:rPr>
              <a:t>Uses structured matrices like HiPPO, which bias the model toward remembering recent information without discarding the distant past</a:t>
            </a:r>
          </a:p>
          <a:p>
            <a:pPr marL="171450" indent="-171450">
              <a:buFont typeface="Calibri"/>
              <a:buChar char="-"/>
            </a:pPr>
            <a:r>
              <a:rPr lang="en-US">
                <a:latin typeface="Calibri"/>
                <a:ea typeface="Calibri"/>
                <a:cs typeface="Calibri"/>
              </a:rPr>
              <a:t>Right: finally, the model is made efficient by transforming the continuous system into a discrete-time convolution</a:t>
            </a:r>
          </a:p>
          <a:p>
            <a:pPr marL="800100" lvl="1" indent="-171450">
              <a:buFont typeface="Courier New"/>
              <a:buChar char="o"/>
            </a:pPr>
            <a:r>
              <a:rPr lang="en-US">
                <a:latin typeface="Calibri"/>
                <a:ea typeface="Calibri"/>
                <a:cs typeface="Calibri"/>
              </a:rPr>
              <a:t>In the full version of S4, this is done using FFTs and low-rank decompositions of A, which allows the model to compute outputs in linear time using the convolution y = K * u</a:t>
            </a:r>
          </a:p>
          <a:p>
            <a:pPr marL="171450" indent="-171450">
              <a:buFont typeface="Calibri"/>
              <a:buChar char="-"/>
            </a:pPr>
            <a:endParaRPr lang="en-US">
              <a:latin typeface="Calibri"/>
              <a:ea typeface="Calibri"/>
              <a:cs typeface="Calibri"/>
            </a:endParaRPr>
          </a:p>
          <a:p>
            <a:r>
              <a:rPr lang="en-US">
                <a:latin typeface="Calibri"/>
                <a:ea typeface="Calibri"/>
                <a:cs typeface="Calibri"/>
              </a:rPr>
              <a:t>For our implementation, we focus on the 1st 2 components: continuous dynamics and structured memory (HiPPO), but we skip the fast convolution step which we'll discuss later under future work.</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4</a:t>
            </a:fld>
            <a:endParaRPr lang="en-US"/>
          </a:p>
        </p:txBody>
      </p:sp>
    </p:spTree>
    <p:extLst>
      <p:ext uri="{BB962C8B-B14F-4D97-AF65-F5344CB8AC3E}">
        <p14:creationId xmlns:p14="http://schemas.microsoft.com/office/powerpoint/2010/main" val="1291011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a:latin typeface="Calibri"/>
              <a:ea typeface="Calibri"/>
              <a:cs typeface="Calibri"/>
            </a:endParaRPr>
          </a:p>
          <a:p>
            <a:endParaRPr lang="en-US">
              <a:ea typeface="Calibri"/>
              <a:cs typeface="Calibri"/>
            </a:endParaRPr>
          </a:p>
          <a:p>
            <a:r>
              <a:rPr lang="en-US">
                <a:latin typeface="Calibri"/>
                <a:ea typeface="Calibri"/>
                <a:cs typeface="Calibri"/>
              </a:rPr>
              <a:t>HIPPO produces operators that project some function into space of orthogonal polynomials, and store the coefficients corresponding to the basis functions, which are represented by the orthogonal </a:t>
            </a:r>
            <a:r>
              <a:rPr lang="en-US" err="1">
                <a:latin typeface="Calibri"/>
                <a:ea typeface="Calibri"/>
                <a:cs typeface="Calibri"/>
              </a:rPr>
              <a:t>polynmoials</a:t>
            </a:r>
            <a:endParaRPr lang="en-US">
              <a:latin typeface="Calibri"/>
              <a:ea typeface="Calibri"/>
              <a:cs typeface="Calibri"/>
            </a:endParaRPr>
          </a:p>
          <a:p>
            <a:endParaRPr lang="en-US">
              <a:ea typeface="Calibri"/>
              <a:cs typeface="Calibri"/>
            </a:endParaRPr>
          </a:p>
          <a:p>
            <a:r>
              <a:rPr lang="en-US">
                <a:latin typeface="Calibri"/>
                <a:ea typeface="Calibri"/>
                <a:cs typeface="Calibri"/>
              </a:rPr>
              <a:t>According to the </a:t>
            </a:r>
            <a:r>
              <a:rPr lang="en-US" err="1">
                <a:latin typeface="Calibri"/>
                <a:ea typeface="Calibri"/>
                <a:cs typeface="Calibri"/>
              </a:rPr>
              <a:t>dynamcis</a:t>
            </a:r>
            <a:r>
              <a:rPr lang="en-US">
                <a:latin typeface="Calibri"/>
                <a:ea typeface="Calibri"/>
                <a:cs typeface="Calibri"/>
              </a:rPr>
              <a:t> and control theory invariance to input timescale, </a:t>
            </a:r>
            <a:r>
              <a:rPr lang="en-US" err="1">
                <a:latin typeface="Calibri"/>
                <a:ea typeface="Calibri"/>
                <a:cs typeface="Calibri"/>
              </a:rPr>
              <a:t>asymptot</a:t>
            </a:r>
            <a:r>
              <a:rPr lang="en-US">
                <a:latin typeface="Calibri"/>
                <a:ea typeface="Calibri"/>
                <a:cs typeface="Calibri"/>
              </a:rPr>
              <a:t>-</a:t>
            </a:r>
          </a:p>
          <a:p>
            <a:r>
              <a:rPr lang="en-US" err="1">
                <a:latin typeface="Calibri"/>
                <a:ea typeface="Calibri"/>
                <a:cs typeface="Calibri"/>
              </a:rPr>
              <a:t>ically</a:t>
            </a:r>
            <a:r>
              <a:rPr lang="en-US">
                <a:latin typeface="Calibri"/>
                <a:ea typeface="Calibri"/>
                <a:cs typeface="Calibri"/>
              </a:rPr>
              <a:t> more efficient gradient updates, and bounds on gradient flow and approximation error</a:t>
            </a:r>
          </a:p>
          <a:p>
            <a:endParaRPr lang="en-US">
              <a:ea typeface="Calibri"/>
              <a:cs typeface="Calibri"/>
            </a:endParaRPr>
          </a:p>
          <a:p>
            <a:pPr marL="171450" indent="-171450">
              <a:buFont typeface="Calibri"/>
              <a:buChar char="-"/>
            </a:pPr>
            <a:r>
              <a:rPr lang="en-US">
                <a:latin typeface="Calibri"/>
                <a:ea typeface="Calibri"/>
                <a:cs typeface="Calibri"/>
              </a:rPr>
              <a:t>Sometimes padding doesn't do anything?? Sometimes it does??</a:t>
            </a:r>
          </a:p>
          <a:p>
            <a:pPr marL="628650" lvl="1" indent="-171450">
              <a:buFont typeface="Courier New"/>
              <a:buChar char="o"/>
            </a:pPr>
            <a:r>
              <a:rPr lang="en-US" err="1">
                <a:latin typeface="Calibri"/>
                <a:ea typeface="Calibri"/>
                <a:cs typeface="Calibri"/>
              </a:rPr>
              <a:t>Shi</a:t>
            </a:r>
            <a:r>
              <a:rPr lang="en-US">
                <a:latin typeface="Calibri"/>
                <a:ea typeface="Calibri"/>
                <a:cs typeface="Calibri"/>
              </a:rPr>
              <a:t> idk </a:t>
            </a:r>
            <a:endParaRPr lang="en-US">
              <a:ea typeface="Calibri" pitchFamily="34" charset="0"/>
              <a:cs typeface="Calibri" pitchFamily="34" charset="0"/>
            </a:endParaRPr>
          </a:p>
          <a:p>
            <a:endParaRPr lang="en-US">
              <a:ea typeface="Calibri"/>
              <a:cs typeface="Calibri"/>
            </a:endParaRPr>
          </a:p>
          <a:p>
            <a:pPr marL="171450" indent="-171450">
              <a:buFont typeface="Calibri"/>
              <a:buChar char="-"/>
            </a:pPr>
            <a:r>
              <a:rPr lang="en-US">
                <a:latin typeface="Calibri"/>
                <a:ea typeface="Calibri"/>
                <a:cs typeface="Calibri"/>
              </a:rPr>
              <a:t>We want to store memory. One of the ways to do so is to store some optimal coefficients corresponding to some basis set of orthogonal polynomials</a:t>
            </a: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5</a:t>
            </a:fld>
            <a:endParaRPr lang="en-US"/>
          </a:p>
        </p:txBody>
      </p:sp>
    </p:spTree>
    <p:extLst>
      <p:ext uri="{BB962C8B-B14F-4D97-AF65-F5344CB8AC3E}">
        <p14:creationId xmlns:p14="http://schemas.microsoft.com/office/powerpoint/2010/main" val="2395940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r>
              <a:rPr lang="en-US">
                <a:latin typeface="Calibri"/>
                <a:ea typeface="Calibri"/>
                <a:cs typeface="Calibri"/>
              </a:rPr>
              <a:t>A-bar, B-bar, C-bar are the discretized state parameters</a:t>
            </a:r>
          </a:p>
          <a:p>
            <a:r>
              <a:rPr lang="en-US">
                <a:latin typeface="Calibri"/>
                <a:ea typeface="Calibri"/>
                <a:cs typeface="Calibri"/>
              </a:rPr>
              <a:t>RNN = recurrent neural networks</a:t>
            </a:r>
            <a:endParaRPr lang="en-US">
              <a:ea typeface="Calibri"/>
              <a:cs typeface="Calibri"/>
            </a:endParaRPr>
          </a:p>
          <a:p>
            <a:endParaRPr lang="en-US">
              <a:ea typeface="Calibri"/>
              <a:cs typeface="Calibri"/>
            </a:endParaRPr>
          </a:p>
          <a:p>
            <a:pPr marL="171450" indent="-171450">
              <a:buFont typeface="Calibri"/>
              <a:buChar char="-"/>
            </a:pPr>
            <a:r>
              <a:rPr lang="en-US">
                <a:latin typeface="Calibri"/>
                <a:ea typeface="Calibri"/>
                <a:cs typeface="Calibri"/>
              </a:rPr>
              <a:t>In </a:t>
            </a:r>
            <a:r>
              <a:rPr lang="en-US" err="1">
                <a:latin typeface="Calibri"/>
                <a:ea typeface="Calibri"/>
                <a:cs typeface="Calibri"/>
              </a:rPr>
              <a:t>og</a:t>
            </a:r>
            <a:r>
              <a:rPr lang="en-US">
                <a:latin typeface="Calibri"/>
                <a:ea typeface="Calibri"/>
                <a:cs typeface="Calibri"/>
              </a:rPr>
              <a:t> S4 paper, the model starts as a continuous-time system, but since our data and learning processes operate on discrete time steps, we need to discretize the </a:t>
            </a:r>
            <a:r>
              <a:rPr lang="en-US" err="1">
                <a:latin typeface="Calibri"/>
                <a:ea typeface="Calibri"/>
                <a:cs typeface="Calibri"/>
              </a:rPr>
              <a:t>eqns</a:t>
            </a:r>
            <a:r>
              <a:rPr lang="en-US">
                <a:latin typeface="Calibri"/>
                <a:ea typeface="Calibri"/>
                <a:cs typeface="Calibri"/>
              </a:rPr>
              <a:t>.</a:t>
            </a:r>
          </a:p>
          <a:p>
            <a:pPr marL="171450" indent="-171450">
              <a:buFont typeface="Calibri"/>
              <a:buChar char="-"/>
            </a:pPr>
            <a:r>
              <a:rPr lang="en-US">
                <a:solidFill>
                  <a:schemeClr val="bg2"/>
                </a:solidFill>
                <a:latin typeface="Calibri"/>
                <a:ea typeface="Calibri"/>
                <a:cs typeface="Calibri"/>
              </a:rPr>
              <a:t>computers can only process discrete time steps, so continuous-time models must be converted into a discrete-time equivalent for simulation.</a:t>
            </a:r>
          </a:p>
          <a:p>
            <a:pPr marL="171450" indent="-171450">
              <a:buFont typeface="Calibri"/>
              <a:buChar char="-"/>
            </a:pPr>
            <a:r>
              <a:rPr lang="en-US">
                <a:latin typeface="Calibri"/>
                <a:ea typeface="Calibri"/>
                <a:cs typeface="Calibri"/>
              </a:rPr>
              <a:t>We use bilinear transform to convert continuous matrix A to discrete version A-bar, along with matching transformations for B and C</a:t>
            </a:r>
            <a:endParaRPr lang="en-US">
              <a:ea typeface="Calibri"/>
              <a:cs typeface="Calibri"/>
            </a:endParaRPr>
          </a:p>
          <a:p>
            <a:pPr marL="171450" indent="-171450">
              <a:buFont typeface="Calibri"/>
              <a:buChar char="-"/>
            </a:pPr>
            <a:r>
              <a:rPr lang="en-US">
                <a:latin typeface="Calibri"/>
                <a:ea typeface="Calibri"/>
                <a:cs typeface="Calibri"/>
              </a:rPr>
              <a:t>Result: simple recurrence update: at each time step, we use input u_k and previous state x_{k-1} to update the hidden state x_k and compute an output y_k</a:t>
            </a:r>
          </a:p>
          <a:p>
            <a:pPr marL="171450" indent="-171450">
              <a:buFont typeface="Calibri"/>
              <a:buChar char="-"/>
            </a:pPr>
            <a:r>
              <a:rPr lang="en-US">
                <a:latin typeface="Calibri"/>
                <a:ea typeface="Calibri"/>
                <a:cs typeface="Calibri"/>
              </a:rPr>
              <a:t>Makes our model functionally similar to RNN (takes in a </a:t>
            </a:r>
            <a:r>
              <a:rPr lang="en-US" err="1">
                <a:latin typeface="Calibri"/>
                <a:ea typeface="Calibri"/>
                <a:cs typeface="Calibri"/>
              </a:rPr>
              <a:t>seq</a:t>
            </a:r>
            <a:r>
              <a:rPr lang="en-US">
                <a:latin typeface="Calibri"/>
                <a:ea typeface="Calibri"/>
                <a:cs typeface="Calibri"/>
              </a:rPr>
              <a:t> and outputs a </a:t>
            </a:r>
            <a:r>
              <a:rPr lang="en-US" err="1">
                <a:latin typeface="Calibri"/>
                <a:ea typeface="Calibri"/>
                <a:cs typeface="Calibri"/>
              </a:rPr>
              <a:t>seq</a:t>
            </a:r>
            <a:r>
              <a:rPr lang="en-US">
                <a:latin typeface="Calibri"/>
                <a:ea typeface="Calibri"/>
                <a:cs typeface="Calibri"/>
              </a:rPr>
              <a:t>), but it's rooted in state-space dynamics</a:t>
            </a:r>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6</a:t>
            </a:fld>
            <a:endParaRPr lang="en-US"/>
          </a:p>
        </p:txBody>
      </p:sp>
    </p:spTree>
    <p:extLst>
      <p:ext uri="{BB962C8B-B14F-4D97-AF65-F5344CB8AC3E}">
        <p14:creationId xmlns:p14="http://schemas.microsoft.com/office/powerpoint/2010/main" val="3844533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6E074355-CE0D-4C68-A6CB-C364ED71B33B}" type="slidenum">
              <a:rPr lang="en-US" smtClean="0"/>
              <a:pPr>
                <a:defRPr/>
              </a:pPr>
              <a:t>7</a:t>
            </a:fld>
            <a:endParaRPr lang="en-US"/>
          </a:p>
        </p:txBody>
      </p:sp>
    </p:spTree>
    <p:extLst>
      <p:ext uri="{BB962C8B-B14F-4D97-AF65-F5344CB8AC3E}">
        <p14:creationId xmlns:p14="http://schemas.microsoft.com/office/powerpoint/2010/main" val="392651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pPr marL="171450" indent="-171450">
              <a:buFont typeface="Calibri"/>
              <a:buChar char="-"/>
            </a:pPr>
            <a:r>
              <a:rPr lang="en-US" err="1">
                <a:latin typeface="Calibri"/>
                <a:ea typeface="Calibri"/>
                <a:cs typeface="Calibri"/>
              </a:rPr>
              <a:t>Model.py</a:t>
            </a:r>
            <a:r>
              <a:rPr lang="en-US">
                <a:latin typeface="Calibri"/>
                <a:ea typeface="Calibri"/>
                <a:cs typeface="Calibri"/>
              </a:rPr>
              <a:t>: where we define the SimpleSSM class, which builds the SSM defines training methods using gradient descent</a:t>
            </a:r>
          </a:p>
          <a:p>
            <a:pPr marL="171450" indent="-171450">
              <a:buFont typeface="Calibri"/>
              <a:buChar char="-"/>
            </a:pPr>
            <a:r>
              <a:rPr lang="en-US" err="1">
                <a:latin typeface="Calibri"/>
                <a:ea typeface="Calibri"/>
                <a:cs typeface="Calibri"/>
              </a:rPr>
              <a:t>Helpers.py</a:t>
            </a:r>
            <a:r>
              <a:rPr lang="en-US">
                <a:latin typeface="Calibri"/>
                <a:ea typeface="Calibri"/>
                <a:cs typeface="Calibri"/>
              </a:rPr>
              <a:t>: contains utility functions like sigmoid activation (compresses model's predictions to probability between 0-1) and binary cross-entropy loss (measures how well the model's predicted probabilities match the true binary labels)</a:t>
            </a:r>
          </a:p>
          <a:p>
            <a:pPr marL="171450" indent="-171450">
              <a:buFont typeface="Calibri"/>
              <a:buChar char="-"/>
            </a:pPr>
            <a:r>
              <a:rPr lang="en-US" err="1">
                <a:latin typeface="Calibri"/>
                <a:ea typeface="Calibri"/>
                <a:cs typeface="Calibri"/>
              </a:rPr>
              <a:t>Hippo.py</a:t>
            </a:r>
            <a:r>
              <a:rPr lang="en-US">
                <a:latin typeface="Calibri"/>
                <a:ea typeface="Calibri"/>
                <a:cs typeface="Calibri"/>
              </a:rPr>
              <a:t>: where we construct the HiPPO-LegS operator and apply bilinear transform to discretize the continuous-time A matrix</a:t>
            </a:r>
          </a:p>
          <a:p>
            <a:pPr marL="171450" indent="-171450">
              <a:buFont typeface="Calibri"/>
              <a:buChar char="-"/>
            </a:pPr>
            <a:r>
              <a:rPr lang="en-US">
                <a:latin typeface="Calibri"/>
                <a:ea typeface="Calibri"/>
                <a:cs typeface="Calibri"/>
              </a:rPr>
              <a:t>Generator_*.</a:t>
            </a:r>
            <a:r>
              <a:rPr lang="en-US" err="1">
                <a:latin typeface="Calibri"/>
                <a:ea typeface="Calibri"/>
                <a:cs typeface="Calibri"/>
              </a:rPr>
              <a:t>py</a:t>
            </a:r>
            <a:r>
              <a:rPr lang="en-US">
                <a:latin typeface="Calibri"/>
                <a:ea typeface="Calibri"/>
                <a:cs typeface="Calibri"/>
              </a:rPr>
              <a:t>: define toy tasks used to evaluate how well the model captures temporal dependencies (outputs input and output sequences)</a:t>
            </a:r>
          </a:p>
          <a:p>
            <a:pPr marL="171450" indent="-171450">
              <a:buFont typeface="Calibri"/>
              <a:buChar char="-"/>
            </a:pPr>
            <a:r>
              <a:rPr lang="en-US" err="1">
                <a:latin typeface="Calibri"/>
                <a:ea typeface="Calibri"/>
                <a:cs typeface="Calibri"/>
              </a:rPr>
              <a:t>Demos.ipynb</a:t>
            </a:r>
            <a:r>
              <a:rPr lang="en-US">
                <a:latin typeface="Calibri"/>
                <a:ea typeface="Calibri"/>
                <a:cs typeface="Calibri"/>
              </a:rPr>
              <a:t>: runs end-to-end experiments and visualizes the test losses</a:t>
            </a:r>
          </a:p>
          <a:p>
            <a:pPr marL="171450" indent="-171450">
              <a:buFont typeface="Calibri"/>
              <a:buChar char="-"/>
            </a:pPr>
            <a:r>
              <a:rPr lang="en-US">
                <a:latin typeface="Calibri"/>
                <a:ea typeface="Calibri"/>
                <a:cs typeface="Calibri"/>
              </a:rPr>
              <a:t>Requirements.txt: manage packages needed to run everything</a:t>
            </a: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8</a:t>
            </a:fld>
            <a:endParaRPr lang="en-US"/>
          </a:p>
        </p:txBody>
      </p:sp>
    </p:spTree>
    <p:extLst>
      <p:ext uri="{BB962C8B-B14F-4D97-AF65-F5344CB8AC3E}">
        <p14:creationId xmlns:p14="http://schemas.microsoft.com/office/powerpoint/2010/main" val="1647876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a:latin typeface="Calibri"/>
              <a:ea typeface="Calibri"/>
              <a:cs typeface="Calibri"/>
            </a:endParaRPr>
          </a:p>
          <a:p>
            <a:endParaRPr lang="en-US">
              <a:ea typeface="Calibri"/>
              <a:cs typeface="Calibri"/>
            </a:endParaRPr>
          </a:p>
          <a:p>
            <a:r>
              <a:rPr lang="en-US">
                <a:latin typeface="Calibri"/>
                <a:ea typeface="Calibri"/>
                <a:cs typeface="Calibri"/>
              </a:rPr>
              <a:t>Binary-cross-entropy = loss function that determines how dissimilar are two categorical datasets, with each having only two values</a:t>
            </a:r>
          </a:p>
          <a:p>
            <a:r>
              <a:rPr lang="en-US">
                <a:latin typeface="Calibri"/>
                <a:ea typeface="Calibri"/>
                <a:cs typeface="Calibri"/>
              </a:rPr>
              <a:t>Make prediction of the test data and compare how bits coincide </a:t>
            </a:r>
            <a:r>
              <a:rPr lang="en-US" err="1">
                <a:latin typeface="Calibri"/>
                <a:ea typeface="Calibri"/>
                <a:cs typeface="Calibri"/>
              </a:rPr>
              <a:t>bewteen</a:t>
            </a:r>
            <a:r>
              <a:rPr lang="en-US">
                <a:latin typeface="Calibri"/>
                <a:ea typeface="Calibri"/>
                <a:cs typeface="Calibri"/>
              </a:rPr>
              <a:t> true </a:t>
            </a:r>
            <a:r>
              <a:rPr lang="en-US" err="1">
                <a:latin typeface="Calibri"/>
                <a:ea typeface="Calibri"/>
                <a:cs typeface="Calibri"/>
              </a:rPr>
              <a:t>y_test</a:t>
            </a:r>
            <a:r>
              <a:rPr lang="en-US">
                <a:latin typeface="Calibri"/>
                <a:ea typeface="Calibri"/>
                <a:cs typeface="Calibri"/>
              </a:rPr>
              <a:t> and </a:t>
            </a:r>
            <a:r>
              <a:rPr lang="en-US" err="1">
                <a:latin typeface="Calibri"/>
                <a:ea typeface="Calibri"/>
                <a:cs typeface="Calibri"/>
              </a:rPr>
              <a:t>y_predicted</a:t>
            </a:r>
            <a:endParaRPr lang="en-US" err="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9</a:t>
            </a:fld>
            <a:endParaRPr lang="en-US"/>
          </a:p>
        </p:txBody>
      </p:sp>
    </p:spTree>
    <p:extLst>
      <p:ext uri="{BB962C8B-B14F-4D97-AF65-F5344CB8AC3E}">
        <p14:creationId xmlns:p14="http://schemas.microsoft.com/office/powerpoint/2010/main" val="705541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r>
              <a:rPr lang="en-US">
                <a:latin typeface="Calibri"/>
                <a:ea typeface="Calibri"/>
                <a:cs typeface="Calibri"/>
              </a:rPr>
              <a:t>One of the tasks we used to evaluate our model is the *Previous bit task*. </a:t>
            </a:r>
            <a:endParaRPr lang="en-US">
              <a:ea typeface="Calibri"/>
              <a:cs typeface="Calibri"/>
            </a:endParaRPr>
          </a:p>
          <a:p>
            <a:endParaRPr lang="en-US">
              <a:ea typeface="Calibri"/>
              <a:cs typeface="Calibri"/>
            </a:endParaRPr>
          </a:p>
          <a:p>
            <a:pPr marL="171450" indent="-171450">
              <a:buFont typeface="Calibri"/>
              <a:buChar char="-"/>
            </a:pPr>
            <a:r>
              <a:rPr lang="en-US">
                <a:latin typeface="Calibri"/>
                <a:ea typeface="Calibri"/>
                <a:cs typeface="Calibri"/>
              </a:rPr>
              <a:t>Idea is simple: we give the model a binary sequence as input, and ask it to predict the previous bit at each step.</a:t>
            </a:r>
            <a:endParaRPr lang="en-US">
              <a:ea typeface="Calibri"/>
              <a:cs typeface="Calibri"/>
            </a:endParaRPr>
          </a:p>
          <a:p>
            <a:pPr marL="171450" indent="-171450">
              <a:buFont typeface="Calibri"/>
              <a:buChar char="-"/>
            </a:pPr>
            <a:r>
              <a:rPr lang="en-US">
                <a:latin typeface="Calibri"/>
                <a:ea typeface="Calibri"/>
                <a:cs typeface="Calibri"/>
              </a:rPr>
              <a:t>For example, if input is [0,1,0,1], the target output would be [-,0,1,0]</a:t>
            </a:r>
            <a:endParaRPr lang="en-US">
              <a:ea typeface="Calibri"/>
              <a:cs typeface="Calibri"/>
            </a:endParaRPr>
          </a:p>
          <a:p>
            <a:pPr marL="171450" indent="-171450">
              <a:buFont typeface="Calibri"/>
              <a:buChar char="-"/>
            </a:pPr>
            <a:r>
              <a:rPr lang="en-US">
                <a:latin typeface="Calibri"/>
                <a:ea typeface="Calibri"/>
                <a:cs typeface="Calibri"/>
              </a:rPr>
              <a:t>Helps us evaluate whether the model can retain very short-term information (one-step memory)</a:t>
            </a:r>
          </a:p>
          <a:p>
            <a:pPr marL="171450" indent="-171450">
              <a:buFont typeface="Calibri"/>
              <a:buChar char="-"/>
            </a:pPr>
            <a:r>
              <a:rPr lang="en-US">
                <a:latin typeface="Calibri"/>
                <a:ea typeface="Calibri"/>
                <a:cs typeface="Calibri"/>
              </a:rPr>
              <a:t>Even </a:t>
            </a:r>
            <a:r>
              <a:rPr lang="en-US" err="1">
                <a:latin typeface="Calibri"/>
                <a:ea typeface="Calibri"/>
                <a:cs typeface="Calibri"/>
              </a:rPr>
              <a:t>tho</a:t>
            </a:r>
            <a:r>
              <a:rPr lang="en-US">
                <a:latin typeface="Calibri"/>
                <a:ea typeface="Calibri"/>
                <a:cs typeface="Calibri"/>
              </a:rPr>
              <a:t> dependency is immediate, the challenge comes when the sequence length is very large</a:t>
            </a:r>
            <a:endParaRPr lang="en-US">
              <a:ea typeface="Calibri"/>
              <a:cs typeface="Calibri"/>
            </a:endParaRPr>
          </a:p>
          <a:p>
            <a:pPr marL="800100" lvl="1" indent="-171450">
              <a:buFont typeface="Courier New"/>
              <a:buChar char="o"/>
            </a:pPr>
            <a:r>
              <a:rPr lang="en-US">
                <a:latin typeface="Calibri"/>
                <a:ea typeface="Calibri"/>
                <a:cs typeface="Calibri"/>
              </a:rPr>
              <a:t>Some models struggle with long sequences, but our SSM handles this well due to the recurrence relation structure and the </a:t>
            </a:r>
            <a:r>
              <a:rPr lang="en-US" err="1">
                <a:latin typeface="Calibri"/>
                <a:ea typeface="Calibri"/>
                <a:cs typeface="Calibri"/>
              </a:rPr>
              <a:t>HiPPO</a:t>
            </a:r>
            <a:r>
              <a:rPr lang="en-US">
                <a:latin typeface="Calibri"/>
                <a:ea typeface="Calibri"/>
                <a:cs typeface="Calibri"/>
              </a:rPr>
              <a:t>-based memory dynamics</a:t>
            </a:r>
            <a:endParaRPr lang="en-US">
              <a:ea typeface="Calibri"/>
              <a:cs typeface="Calibri"/>
            </a:endParaRPr>
          </a:p>
          <a:p>
            <a:pPr marL="171450" indent="-171450">
              <a:buFont typeface="Calibri"/>
              <a:buChar char="-"/>
            </a:pPr>
            <a:endParaRPr lang="en-US">
              <a:ea typeface="Calibri"/>
              <a:cs typeface="Calibri"/>
            </a:endParaRPr>
          </a:p>
          <a:p>
            <a:r>
              <a:rPr lang="en-US">
                <a:latin typeface="Calibri"/>
                <a:ea typeface="Calibri"/>
                <a:cs typeface="Calibri"/>
              </a:rPr>
              <a:t>We show performance results for this task on the next slide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10</a:t>
            </a:fld>
            <a:endParaRPr lang="en-US"/>
          </a:p>
        </p:txBody>
      </p:sp>
    </p:spTree>
    <p:extLst>
      <p:ext uri="{BB962C8B-B14F-4D97-AF65-F5344CB8AC3E}">
        <p14:creationId xmlns:p14="http://schemas.microsoft.com/office/powerpoint/2010/main" val="3385919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latin typeface="Calibri"/>
              <a:ea typeface="Calibri"/>
              <a:cs typeface="Calibri"/>
            </a:endParaRPr>
          </a:p>
          <a:p>
            <a:r>
              <a:rPr lang="en-US">
                <a:latin typeface="Calibri"/>
                <a:ea typeface="Calibri"/>
                <a:cs typeface="Calibri"/>
              </a:rPr>
              <a:t>T = sequence length</a:t>
            </a:r>
          </a:p>
          <a:p>
            <a:r>
              <a:rPr lang="en-US">
                <a:latin typeface="Calibri"/>
                <a:ea typeface="Calibri"/>
                <a:cs typeface="Calibri"/>
              </a:rPr>
              <a:t>DPLR = diagonal plus low rank (decomposition) -&gt; </a:t>
            </a:r>
            <a:r>
              <a:rPr lang="en-US">
                <a:solidFill>
                  <a:schemeClr val="bg2"/>
                </a:solidFill>
                <a:latin typeface="Calibri"/>
                <a:ea typeface="Calibri"/>
                <a:cs typeface="Calibri"/>
              </a:rPr>
              <a:t>approximate a complex, high-dimensional matrix by breaking it down into the sum of two simpler matrices: a </a:t>
            </a:r>
            <a:r>
              <a:rPr lang="en-US" b="1">
                <a:solidFill>
                  <a:schemeClr val="bg2"/>
                </a:solidFill>
                <a:latin typeface="Calibri"/>
                <a:ea typeface="Calibri"/>
                <a:cs typeface="Calibri"/>
              </a:rPr>
              <a:t>diagonal matrix</a:t>
            </a:r>
            <a:r>
              <a:rPr lang="en-US">
                <a:solidFill>
                  <a:schemeClr val="bg2"/>
                </a:solidFill>
                <a:latin typeface="Calibri"/>
                <a:ea typeface="Calibri"/>
                <a:cs typeface="Calibri"/>
              </a:rPr>
              <a:t> and a </a:t>
            </a:r>
            <a:r>
              <a:rPr lang="en-US" b="1">
                <a:solidFill>
                  <a:schemeClr val="bg2"/>
                </a:solidFill>
                <a:latin typeface="Calibri"/>
                <a:ea typeface="Calibri"/>
                <a:cs typeface="Calibri"/>
              </a:rPr>
              <a:t>low-rank matrix</a:t>
            </a:r>
            <a:endParaRPr lang="en-US">
              <a:solidFill>
                <a:schemeClr val="bg2"/>
              </a:solidFill>
              <a:latin typeface="Calibri"/>
              <a:ea typeface="Calibri"/>
              <a:cs typeface="Calibri"/>
            </a:endParaRPr>
          </a:p>
          <a:p>
            <a:endParaRPr lang="en-US">
              <a:latin typeface="Calibri"/>
              <a:ea typeface="Calibri"/>
              <a:cs typeface="Calibri"/>
            </a:endParaRPr>
          </a:p>
          <a:p>
            <a:r>
              <a:rPr lang="en-US">
                <a:latin typeface="Calibri"/>
                <a:ea typeface="Calibri"/>
                <a:cs typeface="Calibri"/>
              </a:rPr>
              <a:t>T=10 results:</a:t>
            </a:r>
          </a:p>
          <a:p>
            <a:pPr marL="171450" indent="-171450">
              <a:buFont typeface="Calibri"/>
              <a:buChar char="-"/>
            </a:pPr>
            <a:r>
              <a:rPr lang="en-US">
                <a:latin typeface="Calibri"/>
                <a:ea typeface="Calibri"/>
                <a:cs typeface="Calibri"/>
              </a:rPr>
              <a:t>We trained the model on sequences of length 10 using 100 training samples and 10 test samples. With a learning rate of 0.01 and 10 epochs, our model reached about 92% accuracy. </a:t>
            </a:r>
          </a:p>
          <a:p>
            <a:pPr marL="171450" indent="-171450">
              <a:buFont typeface="Calibri"/>
              <a:buChar char="-"/>
            </a:pPr>
            <a:r>
              <a:rPr lang="en-US">
                <a:latin typeface="Calibri"/>
                <a:ea typeface="Calibri"/>
                <a:cs typeface="Calibri"/>
              </a:rPr>
              <a:t>Training loss plot: the training loss plot drops sharply within just a few epochs and plateaus around 0.05 -&gt; fast convergence (forms elbow)</a:t>
            </a:r>
          </a:p>
          <a:p>
            <a:pPr marL="171450" indent="-171450">
              <a:buFont typeface="Calibri"/>
              <a:buChar char="-"/>
            </a:pPr>
            <a:r>
              <a:rPr lang="en-US">
                <a:latin typeface="Calibri"/>
                <a:ea typeface="Calibri"/>
                <a:cs typeface="Calibri"/>
              </a:rPr>
              <a:t>Test loss histogram: the test losses are tightly distributed near zero, which indicates the model generalizes well and confidently predicts the correct output</a:t>
            </a:r>
          </a:p>
          <a:p>
            <a:endParaRPr lang="en-US">
              <a:latin typeface="Calibri"/>
              <a:ea typeface="Calibri"/>
              <a:cs typeface="Calibri"/>
            </a:endParaRPr>
          </a:p>
          <a:p>
            <a:pPr>
              <a:buFont typeface="Calibri"/>
            </a:pPr>
            <a:r>
              <a:rPr lang="en-US">
                <a:latin typeface="Calibri"/>
                <a:ea typeface="Calibri"/>
                <a:cs typeface="Calibri"/>
              </a:rPr>
              <a:t>T=10000 results:</a:t>
            </a:r>
          </a:p>
          <a:p>
            <a:pPr marL="171450" indent="-171450">
              <a:buFont typeface="Calibri"/>
              <a:buChar char="-"/>
            </a:pPr>
            <a:r>
              <a:rPr lang="en-US">
                <a:latin typeface="Calibri"/>
                <a:ea typeface="Calibri"/>
                <a:cs typeface="Calibri"/>
              </a:rPr>
              <a:t>We also tested model on much longer sequences (here 10000) to evaluate how well it handles the extended temporal output</a:t>
            </a:r>
          </a:p>
          <a:p>
            <a:pPr marL="171450" indent="-171450">
              <a:buFont typeface="Calibri"/>
              <a:buChar char="-"/>
            </a:pPr>
            <a:r>
              <a:rPr lang="en-US">
                <a:latin typeface="Calibri"/>
                <a:ea typeface="Calibri"/>
                <a:cs typeface="Calibri"/>
              </a:rPr>
              <a:t>Found our simplified SSM still manages to converge stably on this task, even at high sequence lengths</a:t>
            </a:r>
          </a:p>
          <a:p>
            <a:pPr marL="171450" indent="-171450">
              <a:buFont typeface="Calibri"/>
              <a:buChar char="-"/>
            </a:pPr>
            <a:r>
              <a:rPr lang="en-US">
                <a:latin typeface="Calibri"/>
                <a:ea typeface="Calibri"/>
                <a:cs typeface="Calibri"/>
              </a:rPr>
              <a:t>Suggests even without the full S4 convolution kernel, our model can still learn meaningful dependencies over long input sequences</a:t>
            </a:r>
          </a:p>
          <a:p>
            <a:pPr marL="171450" indent="-171450">
              <a:buFont typeface="Calibri"/>
              <a:buChar char="-"/>
            </a:pPr>
            <a:endParaRPr lang="en-US">
              <a:latin typeface="Calibri"/>
              <a:ea typeface="Calibri"/>
              <a:cs typeface="Calibri"/>
            </a:endParaRPr>
          </a:p>
          <a:p>
            <a:r>
              <a:rPr lang="en-US">
                <a:latin typeface="Calibri"/>
                <a:ea typeface="Calibri"/>
                <a:cs typeface="Calibri"/>
              </a:rPr>
              <a:t>Overall: results show our simple SSM is capable of learning both short-term and long-term dependencies, which is encouraging given how minimal our implementation is</a:t>
            </a: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11</a:t>
            </a:fld>
            <a:endParaRPr lang="en-US"/>
          </a:p>
        </p:txBody>
      </p:sp>
    </p:spTree>
    <p:extLst>
      <p:ext uri="{BB962C8B-B14F-4D97-AF65-F5344CB8AC3E}">
        <p14:creationId xmlns:p14="http://schemas.microsoft.com/office/powerpoint/2010/main" val="357876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err="1">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12</a:t>
            </a:fld>
            <a:endParaRPr lang="en-US"/>
          </a:p>
        </p:txBody>
      </p:sp>
    </p:spTree>
    <p:extLst>
      <p:ext uri="{BB962C8B-B14F-4D97-AF65-F5344CB8AC3E}">
        <p14:creationId xmlns:p14="http://schemas.microsoft.com/office/powerpoint/2010/main" val="3141698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err="1">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13</a:t>
            </a:fld>
            <a:endParaRPr lang="en-US"/>
          </a:p>
        </p:txBody>
      </p:sp>
    </p:spTree>
    <p:extLst>
      <p:ext uri="{BB962C8B-B14F-4D97-AF65-F5344CB8AC3E}">
        <p14:creationId xmlns:p14="http://schemas.microsoft.com/office/powerpoint/2010/main" val="1262041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Nurali</a:t>
            </a:r>
            <a:endParaRPr lang="en-US" err="1"/>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14</a:t>
            </a:fld>
            <a:endParaRPr lang="en-US"/>
          </a:p>
        </p:txBody>
      </p:sp>
    </p:spTree>
    <p:extLst>
      <p:ext uri="{BB962C8B-B14F-4D97-AF65-F5344CB8AC3E}">
        <p14:creationId xmlns:p14="http://schemas.microsoft.com/office/powerpoint/2010/main" val="630940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pPr marL="171450" indent="-171450">
              <a:buFont typeface="Calibri"/>
              <a:buChar char="-"/>
            </a:pPr>
            <a:r>
              <a:rPr lang="en-US">
                <a:latin typeface="Calibri"/>
                <a:ea typeface="Calibri"/>
                <a:cs typeface="Calibri"/>
              </a:rPr>
              <a:t>This </a:t>
            </a:r>
            <a:r>
              <a:rPr lang="en-US" err="1">
                <a:latin typeface="Calibri"/>
                <a:ea typeface="Calibri"/>
                <a:cs typeface="Calibri"/>
              </a:rPr>
              <a:t>proj</a:t>
            </a:r>
            <a:r>
              <a:rPr lang="en-US">
                <a:latin typeface="Calibri"/>
                <a:ea typeface="Calibri"/>
                <a:cs typeface="Calibri"/>
              </a:rPr>
              <a:t> came with a few challenges. One major one was trying to understand the math behind the </a:t>
            </a:r>
            <a:r>
              <a:rPr lang="en-US" err="1">
                <a:latin typeface="Calibri"/>
                <a:ea typeface="Calibri"/>
                <a:cs typeface="Calibri"/>
              </a:rPr>
              <a:t>HiPPO</a:t>
            </a:r>
            <a:r>
              <a:rPr lang="en-US">
                <a:latin typeface="Calibri"/>
                <a:ea typeface="Calibri"/>
                <a:cs typeface="Calibri"/>
              </a:rPr>
              <a:t> operator and how we should discretize continuous-time systems. We did some outside reading and group discussion to make sense of it since they weren't things we learned in standard ML courses.</a:t>
            </a:r>
          </a:p>
          <a:p>
            <a:pPr marL="171450" indent="-171450">
              <a:buFont typeface="Calibri"/>
              <a:buChar char="-"/>
            </a:pPr>
            <a:r>
              <a:rPr lang="en-US">
                <a:latin typeface="Calibri"/>
                <a:ea typeface="Calibri"/>
                <a:cs typeface="Calibri"/>
              </a:rPr>
              <a:t>On the implementation side, we ran into debugging issues, especially with how gradients are calculated and how to initialize our matrices so that the model actually learned. Since the full S4 model is pretty complex, we had to figure out how to simplify it down to a version that we could reasonably implement and test in the time we had.</a:t>
            </a:r>
          </a:p>
          <a:p>
            <a:pPr marL="171450" indent="-171450">
              <a:buFont typeface="Calibri"/>
              <a:buChar char="-"/>
            </a:pPr>
            <a:r>
              <a:rPr lang="en-US">
                <a:latin typeface="Calibri"/>
                <a:ea typeface="Calibri"/>
                <a:cs typeface="Calibri"/>
              </a:rPr>
              <a:t>BUT: We learned a lot from this process, especially how continuous-time systems can be discretized for training, and how matrix structure like </a:t>
            </a:r>
            <a:r>
              <a:rPr lang="en-US" err="1">
                <a:latin typeface="Calibri"/>
                <a:ea typeface="Calibri"/>
                <a:cs typeface="Calibri"/>
              </a:rPr>
              <a:t>HiPPO</a:t>
            </a:r>
            <a:r>
              <a:rPr lang="en-US">
                <a:latin typeface="Calibri"/>
                <a:ea typeface="Calibri"/>
                <a:cs typeface="Calibri"/>
              </a:rPr>
              <a:t> helps preserve memory in sequences.</a:t>
            </a:r>
          </a:p>
          <a:p>
            <a:pPr marL="171450" indent="-171450">
              <a:buFont typeface="Calibri"/>
              <a:buChar char="-"/>
            </a:pPr>
            <a:r>
              <a:rPr lang="en-US">
                <a:latin typeface="Calibri"/>
                <a:ea typeface="Calibri"/>
                <a:cs typeface="Calibri"/>
              </a:rPr>
              <a:t>We also learned how different it is to go from understanding the theory to actually building and debugging a working model.</a:t>
            </a:r>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15</a:t>
            </a:fld>
            <a:endParaRPr lang="en-US"/>
          </a:p>
        </p:txBody>
      </p:sp>
    </p:spTree>
    <p:extLst>
      <p:ext uri="{BB962C8B-B14F-4D97-AF65-F5344CB8AC3E}">
        <p14:creationId xmlns:p14="http://schemas.microsoft.com/office/powerpoint/2010/main" val="4258401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Lily</a:t>
            </a:r>
          </a:p>
          <a:p>
            <a:endParaRPr lang="en-US">
              <a:ea typeface="Calibri"/>
              <a:cs typeface="Calibri"/>
            </a:endParaRPr>
          </a:p>
          <a:p>
            <a:pPr marL="171450" indent="-171450">
              <a:buFont typeface="Calibri"/>
              <a:buChar char="-"/>
            </a:pPr>
            <a:r>
              <a:rPr lang="en-US">
                <a:latin typeface="Calibri"/>
                <a:ea typeface="Calibri"/>
                <a:cs typeface="Calibri"/>
              </a:rPr>
              <a:t>For future work, we'd like to compare our model to standard baselines like RNNs (Recurrent neural networks) or GRUs (Gated recurrent unit) to get a better sense of how effective this simple SSM actually is</a:t>
            </a:r>
          </a:p>
          <a:p>
            <a:pPr marL="171450" indent="-171450">
              <a:buFont typeface="Calibri"/>
              <a:buChar char="-"/>
            </a:pPr>
            <a:r>
              <a:rPr lang="en-US">
                <a:latin typeface="Calibri"/>
                <a:ea typeface="Calibri"/>
                <a:cs typeface="Calibri"/>
              </a:rPr>
              <a:t>We're also interested in exploring more advanced versions of S4 like S4D () or DSS (Diagonal State Space Models), which incorporate additional optimizations</a:t>
            </a:r>
          </a:p>
          <a:p>
            <a:pPr marL="171450" indent="-171450">
              <a:buFont typeface="Calibri"/>
              <a:buChar char="-"/>
            </a:pPr>
            <a:r>
              <a:rPr lang="en-US">
                <a:latin typeface="Calibri"/>
                <a:ea typeface="Calibri"/>
                <a:cs typeface="Calibri"/>
              </a:rPr>
              <a:t>We would also like to implement the full convolution kernel using the Cauchy matrix and FFT, which we left out due to time constraints. This would bring our model closer to the full version described in the paper</a:t>
            </a:r>
          </a:p>
          <a:p>
            <a:pPr marL="171450" indent="-171450">
              <a:buFont typeface="Calibri"/>
              <a:buChar char="-"/>
            </a:pPr>
            <a:r>
              <a:rPr lang="en-US">
                <a:latin typeface="Calibri"/>
                <a:ea typeface="Calibri"/>
                <a:cs typeface="Calibri"/>
              </a:rPr>
              <a:t>Another goal is to apply the model to real-world data e.g., physical systems or time series signals</a:t>
            </a:r>
          </a:p>
          <a:p>
            <a:pPr marL="800100" lvl="1" indent="-171450">
              <a:buFont typeface="Courier New"/>
              <a:buChar char="o"/>
            </a:pPr>
            <a:r>
              <a:rPr lang="en-US">
                <a:latin typeface="Calibri"/>
                <a:ea typeface="Calibri"/>
                <a:cs typeface="Calibri"/>
              </a:rPr>
              <a:t>Mechanical systems (pendulums, oscillators), fluid dynamics (</a:t>
            </a:r>
            <a:r>
              <a:rPr lang="en-US" err="1">
                <a:latin typeface="Calibri"/>
                <a:ea typeface="Calibri"/>
                <a:cs typeface="Calibri"/>
              </a:rPr>
              <a:t>modelling</a:t>
            </a:r>
            <a:r>
              <a:rPr lang="en-US">
                <a:latin typeface="Calibri"/>
                <a:ea typeface="Calibri"/>
                <a:cs typeface="Calibri"/>
              </a:rPr>
              <a:t> wave propagation), electrical circuits (time-varying voltage/current), climate/weather models (temperature, wind, humidity over time), biological signals (ECG/EKG, neural signals)</a:t>
            </a:r>
          </a:p>
          <a:p>
            <a:pPr marL="800100" lvl="1" indent="-171450">
              <a:buFont typeface="Courier New"/>
              <a:buChar char="o"/>
            </a:pPr>
            <a:r>
              <a:rPr lang="en-US">
                <a:latin typeface="Calibri"/>
                <a:ea typeface="Calibri"/>
                <a:cs typeface="Calibri"/>
              </a:rPr>
              <a:t>Basically anything that involves sequential, time-based signals that a SSM could learn from</a:t>
            </a:r>
          </a:p>
          <a:p>
            <a:pPr marL="171450" indent="-171450">
              <a:buFont typeface="Calibri"/>
              <a:buChar char="-"/>
            </a:pPr>
            <a:r>
              <a:rPr lang="en-US">
                <a:latin typeface="Calibri"/>
                <a:ea typeface="Calibri"/>
                <a:cs typeface="Calibri"/>
              </a:rPr>
              <a:t>Finally, we'd like to better understand the model's internal dynamics by visualizing how the hidden state evolves over time, which could give insight into what kind of memory or structure the model is actually learning</a:t>
            </a:r>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16</a:t>
            </a:fld>
            <a:endParaRPr lang="en-US"/>
          </a:p>
        </p:txBody>
      </p:sp>
    </p:spTree>
    <p:extLst>
      <p:ext uri="{BB962C8B-B14F-4D97-AF65-F5344CB8AC3E}">
        <p14:creationId xmlns:p14="http://schemas.microsoft.com/office/powerpoint/2010/main" val="569953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Slop from chat: </a:t>
            </a:r>
          </a:p>
          <a:p>
            <a:pPr marL="171450" indent="-171450">
              <a:buFont typeface="Calibri"/>
              <a:buChar char="-"/>
            </a:pPr>
            <a:r>
              <a:rPr lang="en-US">
                <a:latin typeface="Calibri"/>
                <a:ea typeface="Calibri"/>
                <a:cs typeface="Calibri"/>
              </a:rPr>
              <a:t>In this project, we explored how state space models — and S4 in particular — provide an efficient way to handle sequential data, especially over long time spans.</a:t>
            </a:r>
          </a:p>
          <a:p>
            <a:pPr marL="171450" indent="-171450">
              <a:buFont typeface="Calibri"/>
              <a:buChar char="-"/>
            </a:pPr>
            <a:r>
              <a:rPr lang="en-US">
                <a:latin typeface="Calibri"/>
                <a:ea typeface="Calibri"/>
                <a:cs typeface="Calibri"/>
              </a:rPr>
              <a:t>We saw how structured components like the </a:t>
            </a:r>
            <a:r>
              <a:rPr lang="en-US" err="1">
                <a:latin typeface="Calibri"/>
                <a:ea typeface="Calibri"/>
                <a:cs typeface="Calibri"/>
              </a:rPr>
              <a:t>HiPPO</a:t>
            </a:r>
            <a:r>
              <a:rPr lang="en-US">
                <a:latin typeface="Calibri"/>
                <a:ea typeface="Calibri"/>
                <a:cs typeface="Calibri"/>
              </a:rPr>
              <a:t> matrix and discretization play a key role in letting the model retain memory across timesteps.</a:t>
            </a:r>
          </a:p>
          <a:p>
            <a:pPr marL="171450" indent="-171450">
              <a:buFont typeface="Calibri"/>
              <a:buChar char="-"/>
            </a:pPr>
            <a:r>
              <a:rPr lang="en-US">
                <a:latin typeface="Calibri"/>
                <a:ea typeface="Calibri"/>
                <a:cs typeface="Calibri"/>
              </a:rPr>
              <a:t>By building a simplified version of S4 from scratch, we not only reinforced our understanding of the math behind it but also gained hands-on experience with training and debugging such models.</a:t>
            </a:r>
          </a:p>
          <a:p>
            <a:pPr marL="171450" indent="-171450">
              <a:buFont typeface="Calibri"/>
              <a:buChar char="-"/>
            </a:pPr>
            <a:r>
              <a:rPr lang="en-US">
                <a:latin typeface="Calibri"/>
                <a:ea typeface="Calibri"/>
                <a:cs typeface="Calibri"/>
              </a:rPr>
              <a:t>We also reflected on how tools from physics and numerical methods can inform and improve ML architecture design.</a:t>
            </a:r>
          </a:p>
          <a:p>
            <a:pPr marL="171450" indent="-171450">
              <a:buFont typeface="Calibri"/>
              <a:buChar char="-"/>
            </a:pPr>
            <a:r>
              <a:rPr lang="en-US">
                <a:latin typeface="Calibri"/>
                <a:ea typeface="Calibri"/>
                <a:cs typeface="Calibri"/>
              </a:rPr>
              <a:t>Finally, we outlined future directions — including scaling the model and applying it to more realistic datasets.</a:t>
            </a:r>
          </a:p>
          <a:p>
            <a:endParaRPr lang="en-US">
              <a:ea typeface="Calibri"/>
              <a:cs typeface="Calibri"/>
            </a:endParaRPr>
          </a:p>
        </p:txBody>
      </p:sp>
      <p:sp>
        <p:nvSpPr>
          <p:cNvPr id="4" name="Slide Number Placeholder 3"/>
          <p:cNvSpPr>
            <a:spLocks noGrp="1"/>
          </p:cNvSpPr>
          <p:nvPr>
            <p:ph type="sldNum" sz="quarter" idx="5"/>
          </p:nvPr>
        </p:nvSpPr>
        <p:spPr/>
        <p:txBody>
          <a:bodyPr/>
          <a:lstStyle/>
          <a:p>
            <a:pPr>
              <a:defRPr/>
            </a:pPr>
            <a:fld id="{6E074355-CE0D-4C68-A6CB-C364ED71B33B}" type="slidenum">
              <a:rPr lang="en-US"/>
              <a:pPr>
                <a:defRPr/>
              </a:pPr>
              <a:t>17</a:t>
            </a:fld>
            <a:endParaRPr lang="en-US"/>
          </a:p>
        </p:txBody>
      </p:sp>
    </p:spTree>
    <p:extLst>
      <p:ext uri="{BB962C8B-B14F-4D97-AF65-F5344CB8AC3E}">
        <p14:creationId xmlns:p14="http://schemas.microsoft.com/office/powerpoint/2010/main" val="887995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EE2E6-20A6-37E9-F069-BE2FF529787A}"/>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9D7DF-76D4-0D3A-9B13-4AE3990E8045}"/>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83207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lvl1pPr>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685800" y="2914650"/>
            <a:ext cx="7772400" cy="1314450"/>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247774"/>
          </a:xfrm>
        </p:spPr>
        <p:txBody>
          <a:bodyPr anchor="t"/>
          <a:lstStyle>
            <a:lvl1pPr algn="l">
              <a:defRPr sz="4000" b="1" cap="all">
                <a:solidFill>
                  <a:schemeClr val="bg1"/>
                </a:solidFill>
              </a:defRPr>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2496"/>
            <a:ext cx="4038600" cy="3200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82496"/>
            <a:ext cx="4038600" cy="3200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599C950-0CDD-A035-08FD-C97C2EA2850D}"/>
              </a:ext>
            </a:extLst>
          </p:cNvPr>
          <p:cNvSpPr>
            <a:spLocks noGrp="1"/>
          </p:cNvSpPr>
          <p:nvPr>
            <p:ph type="title"/>
          </p:nvPr>
        </p:nvSpPr>
        <p:spPr>
          <a:xfrm>
            <a:off x="420688" y="641510"/>
            <a:ext cx="3008313" cy="871538"/>
          </a:xfrm>
        </p:spPr>
        <p:txBody>
          <a:bodyPr anchor="b"/>
          <a:lstStyle>
            <a:lvl1pPr algn="l">
              <a:defRPr sz="2000" b="1"/>
            </a:lvl1pPr>
          </a:lstStyle>
          <a:p>
            <a:r>
              <a:rPr lang="en-US"/>
              <a:t>Click to edit Master title style</a:t>
            </a:r>
          </a:p>
        </p:txBody>
      </p:sp>
      <p:sp>
        <p:nvSpPr>
          <p:cNvPr id="4" name="Content Placeholder 2">
            <a:extLst>
              <a:ext uri="{FF2B5EF4-FFF2-40B4-BE49-F238E27FC236}">
                <a16:creationId xmlns:a16="http://schemas.microsoft.com/office/drawing/2014/main" id="{0C4AAB63-BA0D-1EFC-E588-07C01114581D}"/>
              </a:ext>
            </a:extLst>
          </p:cNvPr>
          <p:cNvSpPr>
            <a:spLocks noGrp="1"/>
          </p:cNvSpPr>
          <p:nvPr>
            <p:ph idx="1"/>
          </p:nvPr>
        </p:nvSpPr>
        <p:spPr>
          <a:xfrm>
            <a:off x="3575050" y="920884"/>
            <a:ext cx="5111750" cy="40511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5ABC10CF-4DF4-AB0D-7ECE-A28A5589BC05}"/>
              </a:ext>
            </a:extLst>
          </p:cNvPr>
          <p:cNvSpPr>
            <a:spLocks noGrp="1"/>
          </p:cNvSpPr>
          <p:nvPr>
            <p:ph type="body" sz="half" idx="2"/>
          </p:nvPr>
        </p:nvSpPr>
        <p:spPr>
          <a:xfrm>
            <a:off x="420688" y="1601629"/>
            <a:ext cx="3008313" cy="31418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CCF270B-CF5E-9E77-5076-42112E76571D}"/>
              </a:ext>
            </a:extLst>
          </p:cNvPr>
          <p:cNvSpPr>
            <a:spLocks noGrp="1"/>
          </p:cNvSpPr>
          <p:nvPr>
            <p:ph type="title"/>
          </p:nvPr>
        </p:nvSpPr>
        <p:spPr>
          <a:xfrm>
            <a:off x="1792288" y="3829050"/>
            <a:ext cx="5486400" cy="425768"/>
          </a:xfrm>
        </p:spPr>
        <p:txBody>
          <a:bodyPr anchor="b"/>
          <a:lstStyle>
            <a:lvl1pPr algn="l">
              <a:defRPr sz="2000" b="1"/>
            </a:lvl1pPr>
          </a:lstStyle>
          <a:p>
            <a:r>
              <a:rPr lang="en-US"/>
              <a:t>Click to edit Master title style</a:t>
            </a:r>
          </a:p>
        </p:txBody>
      </p:sp>
      <p:sp>
        <p:nvSpPr>
          <p:cNvPr id="6" name="Picture Placeholder 2">
            <a:extLst>
              <a:ext uri="{FF2B5EF4-FFF2-40B4-BE49-F238E27FC236}">
                <a16:creationId xmlns:a16="http://schemas.microsoft.com/office/drawing/2014/main" id="{464A62F6-9C8C-4AF8-2097-9E4778C6485A}"/>
              </a:ext>
            </a:extLst>
          </p:cNvPr>
          <p:cNvSpPr>
            <a:spLocks noGrp="1"/>
          </p:cNvSpPr>
          <p:nvPr>
            <p:ph type="pic" idx="1"/>
          </p:nvPr>
        </p:nvSpPr>
        <p:spPr>
          <a:xfrm>
            <a:off x="1792288" y="68580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Text Placeholder 3">
            <a:extLst>
              <a:ext uri="{FF2B5EF4-FFF2-40B4-BE49-F238E27FC236}">
                <a16:creationId xmlns:a16="http://schemas.microsoft.com/office/drawing/2014/main" id="{AFDDF1D8-13EC-9DA1-34E9-C1C120DC3367}"/>
              </a:ext>
            </a:extLst>
          </p:cNvPr>
          <p:cNvSpPr>
            <a:spLocks noGrp="1"/>
          </p:cNvSpPr>
          <p:nvPr>
            <p:ph type="body" sz="half" idx="2"/>
          </p:nvPr>
        </p:nvSpPr>
        <p:spPr>
          <a:xfrm>
            <a:off x="1792288" y="4254817"/>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343"/>
            <a:ext cx="7772400" cy="1102995"/>
          </a:xfrm>
        </p:spPr>
        <p:txBody>
          <a:bodyPr/>
          <a:lstStyle>
            <a:lvl1pPr>
              <a:defRPr>
                <a:solidFill>
                  <a:schemeClr val="bg2"/>
                </a:solidFill>
              </a:defRPr>
            </a:lvl1p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bg2"/>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561331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57250"/>
          </a:xfrm>
        </p:spPr>
        <p:txBody>
          <a:bodyPr/>
          <a:lstStyle/>
          <a:p>
            <a:r>
              <a:rPr lang="en-US"/>
              <a:t>Click to edit Master title style</a:t>
            </a:r>
          </a:p>
        </p:txBody>
      </p:sp>
      <p:sp>
        <p:nvSpPr>
          <p:cNvPr id="3" name="Content Placeholder 2"/>
          <p:cNvSpPr>
            <a:spLocks noGrp="1"/>
          </p:cNvSpPr>
          <p:nvPr>
            <p:ph idx="1"/>
          </p:nvPr>
        </p:nvSpPr>
        <p:spPr>
          <a:xfrm>
            <a:off x="457200" y="1682496"/>
            <a:ext cx="8229600" cy="29489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078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Title 1"/>
          <p:cNvSpPr>
            <a:spLocks noGrp="1"/>
          </p:cNvSpPr>
          <p:nvPr>
            <p:ph type="title"/>
          </p:nvPr>
        </p:nvSpPr>
        <p:spPr>
          <a:xfrm>
            <a:off x="722313" y="3305176"/>
            <a:ext cx="7772400" cy="1021556"/>
          </a:xfrm>
        </p:spPr>
        <p:txBody>
          <a:bodyPr anchor="t"/>
          <a:lstStyle>
            <a:lvl1pPr algn="l">
              <a:defRPr sz="4000" b="1" cap="all">
                <a:latin typeface="Arial"/>
              </a:defRPr>
            </a:lvl1pPr>
          </a:lstStyle>
          <a:p>
            <a:r>
              <a:rPr lang="en-US"/>
              <a:t>Click to edit Master title style</a:t>
            </a:r>
          </a:p>
        </p:txBody>
      </p:sp>
      <p:sp>
        <p:nvSpPr>
          <p:cNvPr id="5" name="Text Placeholder 2"/>
          <p:cNvSpPr>
            <a:spLocks noGrp="1"/>
          </p:cNvSpPr>
          <p:nvPr>
            <p:ph type="body" idx="1"/>
          </p:nvPr>
        </p:nvSpPr>
        <p:spPr>
          <a:xfrm>
            <a:off x="722313" y="2180035"/>
            <a:ext cx="7772400" cy="1125140"/>
          </a:xfrm>
        </p:spPr>
        <p:txBody>
          <a:bodyPr anchor="b"/>
          <a:lstStyle>
            <a:lvl1pPr marL="0" indent="0">
              <a:buNone/>
              <a:defRPr sz="2000">
                <a:solidFill>
                  <a:schemeClr val="bg2"/>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598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2496"/>
            <a:ext cx="4038600" cy="3017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82496"/>
            <a:ext cx="4038600" cy="3017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6750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0688" y="641510"/>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20884"/>
            <a:ext cx="5111750" cy="40511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20688" y="1601629"/>
            <a:ext cx="3008313" cy="31418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36964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829050"/>
            <a:ext cx="5486400" cy="42576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8580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254817"/>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36138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96908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57250"/>
          </a:xfrm>
        </p:spPr>
        <p:txBody>
          <a:bodyPr/>
          <a:lstStyle/>
          <a:p>
            <a:r>
              <a:rPr lang="en-US"/>
              <a:t>Click to edit Master title style</a:t>
            </a:r>
          </a:p>
        </p:txBody>
      </p:sp>
      <p:sp>
        <p:nvSpPr>
          <p:cNvPr id="3" name="Content Placeholder 2"/>
          <p:cNvSpPr>
            <a:spLocks noGrp="1"/>
          </p:cNvSpPr>
          <p:nvPr>
            <p:ph idx="1"/>
          </p:nvPr>
        </p:nvSpPr>
        <p:spPr>
          <a:xfrm>
            <a:off x="457200" y="1682496"/>
            <a:ext cx="8229600" cy="291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7501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atin typeface="Arial"/>
              </a:defRPr>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bg2"/>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79158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2496"/>
            <a:ext cx="4038600" cy="31087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82496"/>
            <a:ext cx="4038600" cy="31087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0437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Title 1"/>
          <p:cNvSpPr>
            <a:spLocks noGrp="1"/>
          </p:cNvSpPr>
          <p:nvPr>
            <p:ph type="title"/>
          </p:nvPr>
        </p:nvSpPr>
        <p:spPr>
          <a:xfrm>
            <a:off x="420688" y="641510"/>
            <a:ext cx="3008313" cy="871538"/>
          </a:xfrm>
        </p:spPr>
        <p:txBody>
          <a:bodyPr anchor="b"/>
          <a:lstStyle>
            <a:lvl1pPr algn="l">
              <a:defRPr sz="2000" b="1"/>
            </a:lvl1pPr>
          </a:lstStyle>
          <a:p>
            <a:r>
              <a:rPr lang="en-US"/>
              <a:t>Click to edit Master title style</a:t>
            </a:r>
          </a:p>
        </p:txBody>
      </p:sp>
      <p:sp>
        <p:nvSpPr>
          <p:cNvPr id="6" name="Content Placeholder 2"/>
          <p:cNvSpPr>
            <a:spLocks noGrp="1"/>
          </p:cNvSpPr>
          <p:nvPr>
            <p:ph idx="1"/>
          </p:nvPr>
        </p:nvSpPr>
        <p:spPr>
          <a:xfrm>
            <a:off x="3575050" y="920884"/>
            <a:ext cx="5111750" cy="40511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p:cNvSpPr>
            <a:spLocks noGrp="1"/>
          </p:cNvSpPr>
          <p:nvPr>
            <p:ph type="body" sz="half" idx="2"/>
          </p:nvPr>
        </p:nvSpPr>
        <p:spPr>
          <a:xfrm>
            <a:off x="420688" y="1601629"/>
            <a:ext cx="3008313" cy="31418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90217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Title 1"/>
          <p:cNvSpPr>
            <a:spLocks noGrp="1"/>
          </p:cNvSpPr>
          <p:nvPr>
            <p:ph type="title"/>
          </p:nvPr>
        </p:nvSpPr>
        <p:spPr>
          <a:xfrm>
            <a:off x="1792288" y="3829050"/>
            <a:ext cx="5486400" cy="425768"/>
          </a:xfrm>
        </p:spPr>
        <p:txBody>
          <a:bodyPr anchor="b"/>
          <a:lstStyle>
            <a:lvl1pPr algn="l">
              <a:defRPr sz="2000" b="1"/>
            </a:lvl1pPr>
          </a:lstStyle>
          <a:p>
            <a:r>
              <a:rPr lang="en-US"/>
              <a:t>Click to edit Master title style</a:t>
            </a:r>
          </a:p>
        </p:txBody>
      </p:sp>
      <p:sp>
        <p:nvSpPr>
          <p:cNvPr id="6" name="Picture Placeholder 2"/>
          <p:cNvSpPr>
            <a:spLocks noGrp="1"/>
          </p:cNvSpPr>
          <p:nvPr>
            <p:ph type="pic" idx="1"/>
          </p:nvPr>
        </p:nvSpPr>
        <p:spPr>
          <a:xfrm>
            <a:off x="1792288" y="685800"/>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Text Placeholder 3"/>
          <p:cNvSpPr>
            <a:spLocks noGrp="1"/>
          </p:cNvSpPr>
          <p:nvPr>
            <p:ph type="body" sz="half" idx="2"/>
          </p:nvPr>
        </p:nvSpPr>
        <p:spPr>
          <a:xfrm>
            <a:off x="1792288" y="4254817"/>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267081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495300" y="1200150"/>
            <a:ext cx="7886700" cy="1752600"/>
          </a:xfrm>
          <a:prstGeom prst="rect">
            <a:avLst/>
          </a:prstGeom>
        </p:spPr>
        <p:txBody>
          <a:bodyPr vert="horz" wrap="square" lIns="91440" tIns="45720" rIns="91440" bIns="45720" rtlCol="0" anchor="b">
            <a:noAutofit/>
          </a:bodyPr>
          <a:lstStyle/>
          <a:p>
            <a:r>
              <a:rPr lang="en-US"/>
              <a:t>Insert your</a:t>
            </a:r>
            <a:br>
              <a:rPr lang="en-US"/>
            </a:br>
            <a:r>
              <a:rPr lang="en-US"/>
              <a:t>headline here</a:t>
            </a:r>
            <a:br>
              <a:rPr lang="en-US"/>
            </a:br>
            <a:r>
              <a:rPr lang="en-US"/>
              <a:t>up to 3 lines</a:t>
            </a:r>
          </a:p>
        </p:txBody>
      </p:sp>
      <p:sp>
        <p:nvSpPr>
          <p:cNvPr id="10" name="Text Placeholder 9"/>
          <p:cNvSpPr>
            <a:spLocks noGrp="1"/>
          </p:cNvSpPr>
          <p:nvPr>
            <p:ph type="body" idx="1"/>
          </p:nvPr>
        </p:nvSpPr>
        <p:spPr>
          <a:xfrm>
            <a:off x="495300" y="3333749"/>
            <a:ext cx="7886700" cy="457201"/>
          </a:xfrm>
          <a:prstGeom prst="rect">
            <a:avLst/>
          </a:prstGeom>
        </p:spPr>
        <p:txBody>
          <a:bodyPr vert="horz" lIns="91440" tIns="45720" rIns="91440" bIns="45720" rtlCol="0">
            <a:noAutofit/>
          </a:bodyPr>
          <a:lstStyle/>
          <a:p>
            <a:pPr lvl="0"/>
            <a:r>
              <a:rPr lang="en-US"/>
              <a:t>Insert your subtitle or any additional description text here up to</a:t>
            </a:r>
            <a:br>
              <a:rPr lang="en-US"/>
            </a:br>
            <a:r>
              <a:rPr lang="en-US"/>
              <a:t>two lines of text or you can delete this text box</a:t>
            </a:r>
          </a:p>
        </p:txBody>
      </p:sp>
      <p:cxnSp>
        <p:nvCxnSpPr>
          <p:cNvPr id="14" name="Straight Connector 13"/>
          <p:cNvCxnSpPr/>
          <p:nvPr userDrawn="1"/>
        </p:nvCxnSpPr>
        <p:spPr>
          <a:xfrm>
            <a:off x="628650" y="3105150"/>
            <a:ext cx="5619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 Placeholder 9"/>
          <p:cNvSpPr txBox="1">
            <a:spLocks/>
          </p:cNvSpPr>
          <p:nvPr userDrawn="1"/>
        </p:nvSpPr>
        <p:spPr>
          <a:xfrm>
            <a:off x="490384" y="4171949"/>
            <a:ext cx="7886700" cy="457201"/>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lnSpc>
                <a:spcPct val="50000"/>
              </a:lnSpc>
              <a:spcAft>
                <a:spcPts val="0"/>
              </a:spcAft>
            </a:pPr>
            <a:r>
              <a:rPr lang="en-US" sz="1050" b="0" i="0" cap="all" baseline="0">
                <a:latin typeface="Arial Black" charset="0"/>
              </a:rPr>
              <a:t>Presenter or speaker name</a:t>
            </a:r>
          </a:p>
          <a:p>
            <a:pPr fontAlgn="auto">
              <a:lnSpc>
                <a:spcPct val="30000"/>
              </a:lnSpc>
              <a:spcAft>
                <a:spcPts val="0"/>
              </a:spcAft>
            </a:pPr>
            <a:r>
              <a:rPr lang="en-US" sz="1050"/>
              <a:t>Position/Role,</a:t>
            </a:r>
            <a:r>
              <a:rPr lang="en-US" sz="1050" baseline="0"/>
              <a:t> The University of Texas at Austin</a:t>
            </a:r>
            <a:endParaRPr lang="en-US" sz="1050"/>
          </a:p>
        </p:txBody>
      </p:sp>
      <p:sp>
        <p:nvSpPr>
          <p:cNvPr id="16" name="Text Placeholder 9"/>
          <p:cNvSpPr txBox="1">
            <a:spLocks/>
          </p:cNvSpPr>
          <p:nvPr userDrawn="1"/>
        </p:nvSpPr>
        <p:spPr>
          <a:xfrm>
            <a:off x="548640" y="457200"/>
            <a:ext cx="7828444" cy="38929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spcAft>
                <a:spcPts val="0"/>
              </a:spcAft>
            </a:pPr>
            <a:r>
              <a:rPr lang="en-US" sz="1200" b="0" i="0" cap="all" baseline="0">
                <a:latin typeface="Arial Black" charset="0"/>
              </a:rPr>
              <a:t>Month 20xx</a:t>
            </a:r>
            <a:endParaRPr lang="en-US" sz="1200" b="0"/>
          </a:p>
        </p:txBody>
      </p:sp>
    </p:spTree>
    <p:extLst>
      <p:ext uri="{BB962C8B-B14F-4D97-AF65-F5344CB8AC3E}">
        <p14:creationId xmlns:p14="http://schemas.microsoft.com/office/powerpoint/2010/main" val="1503322918"/>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p:titleStyle>
    <p:bodyStyle>
      <a:lvl1pPr marL="0" indent="0" algn="l" defTabSz="914400" rtl="0" eaLnBrk="1" latinLnBrk="0" hangingPunct="1">
        <a:lnSpc>
          <a:spcPct val="90000"/>
        </a:lnSpc>
        <a:spcBef>
          <a:spcPts val="1000"/>
        </a:spcBef>
        <a:buFont typeface="Arial"/>
        <a:buNone/>
        <a:defRPr sz="14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82496"/>
            <a:ext cx="8229600" cy="29535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7" r:id="rId6"/>
  </p:sldLayoutIdLst>
  <p:txStyles>
    <p:titleStyle>
      <a:lvl1pPr algn="l" defTabSz="457200" rtl="0" eaLnBrk="1" latinLnBrk="0" hangingPunct="1">
        <a:spcBef>
          <a:spcPct val="0"/>
        </a:spcBef>
        <a:buNone/>
        <a:defRPr sz="4400" kern="1200">
          <a:solidFill>
            <a:schemeClr val="bg1"/>
          </a:solidFill>
          <a:latin typeface="Arial"/>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80210"/>
            <a:ext cx="8229600" cy="29489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182391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7" r:id="rId5"/>
    <p:sldLayoutId id="2147483668" r:id="rId6"/>
  </p:sldLayoutIdLst>
  <p:txStyles>
    <p:titleStyle>
      <a:lvl1pPr algn="l" defTabSz="457200" rtl="0" eaLnBrk="1" latinLnBrk="0" hangingPunct="1">
        <a:spcBef>
          <a:spcPct val="0"/>
        </a:spcBef>
        <a:buNone/>
        <a:defRPr sz="4400" kern="1200">
          <a:solidFill>
            <a:schemeClr val="bg2"/>
          </a:solidFill>
          <a:latin typeface="Arial"/>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2"/>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2"/>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2"/>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2"/>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2"/>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79972"/>
            <a:ext cx="8229600" cy="29146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163865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7" r:id="rId5"/>
    <p:sldLayoutId id="2147483678" r:id="rId6"/>
  </p:sldLayoutIdLst>
  <p:txStyles>
    <p:titleStyle>
      <a:lvl1pPr algn="l" defTabSz="457200" rtl="0" eaLnBrk="1" latinLnBrk="0" hangingPunct="1">
        <a:spcBef>
          <a:spcPct val="0"/>
        </a:spcBef>
        <a:buNone/>
        <a:defRPr sz="4400" kern="1200">
          <a:solidFill>
            <a:schemeClr val="bg2"/>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bg2"/>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bg2"/>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bg2"/>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bg2"/>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bg2"/>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dan1oo/Cphy_SS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008.07669" TargetMode="External"/><Relationship Id="rId2" Type="http://schemas.openxmlformats.org/officeDocument/2006/relationships/hyperlink" Target="https://arxiv.org/abs/2111.00396" TargetMode="External"/><Relationship Id="rId1" Type="http://schemas.openxmlformats.org/officeDocument/2006/relationships/slideLayout" Target="../slideLayouts/slideLayout3.xml"/><Relationship Id="rId4" Type="http://schemas.openxmlformats.org/officeDocument/2006/relationships/hyperlink" Target="https://huggingface.co/blog/lbourdois/get-on-the-ssm-tr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cxnSp>
        <p:nvCxnSpPr>
          <p:cNvPr id="10" name="Straight Connector 9"/>
          <p:cNvCxnSpPr/>
          <p:nvPr/>
        </p:nvCxnSpPr>
        <p:spPr>
          <a:xfrm>
            <a:off x="609600" y="3105150"/>
            <a:ext cx="5619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9"/>
          <p:cNvSpPr txBox="1">
            <a:spLocks/>
          </p:cNvSpPr>
          <p:nvPr/>
        </p:nvSpPr>
        <p:spPr>
          <a:xfrm>
            <a:off x="548640" y="4114800"/>
            <a:ext cx="7886700" cy="457201"/>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lnSpc>
                <a:spcPct val="50000"/>
              </a:lnSpc>
              <a:spcAft>
                <a:spcPts val="0"/>
              </a:spcAft>
            </a:pPr>
            <a:r>
              <a:rPr lang="en-US" sz="1050" b="0" i="0" cap="all" baseline="0" err="1">
                <a:latin typeface="Arial Black"/>
                <a:cs typeface="Arial"/>
              </a:rPr>
              <a:t>Nurali</a:t>
            </a:r>
            <a:r>
              <a:rPr lang="en-US" sz="1050" b="0" i="0" cap="all" baseline="0">
                <a:latin typeface="Arial Black"/>
                <a:cs typeface="Arial"/>
              </a:rPr>
              <a:t> </a:t>
            </a:r>
            <a:r>
              <a:rPr lang="en-US" sz="1050" b="0" i="0" cap="all" baseline="0" err="1">
                <a:latin typeface="Arial Black"/>
                <a:cs typeface="Arial"/>
              </a:rPr>
              <a:t>Bibolat</a:t>
            </a:r>
            <a:r>
              <a:rPr lang="en-US" sz="1050" b="0" i="0" cap="all" baseline="0">
                <a:latin typeface="Arial Black"/>
                <a:cs typeface="Arial"/>
              </a:rPr>
              <a:t>, Lily Nguyen, </a:t>
            </a:r>
            <a:r>
              <a:rPr lang="en-US" sz="1050" cap="all">
                <a:latin typeface="Arial Black"/>
                <a:cs typeface="Arial"/>
              </a:rPr>
              <a:t>&amp; Daniel</a:t>
            </a:r>
            <a:r>
              <a:rPr lang="en-US" sz="1050" b="0" i="0" cap="all" baseline="0">
                <a:latin typeface="Arial Black"/>
                <a:cs typeface="Arial"/>
              </a:rPr>
              <a:t> Wang</a:t>
            </a:r>
          </a:p>
          <a:p>
            <a:pPr fontAlgn="auto">
              <a:lnSpc>
                <a:spcPct val="30000"/>
              </a:lnSpc>
              <a:spcAft>
                <a:spcPts val="0"/>
              </a:spcAft>
            </a:pPr>
            <a:r>
              <a:rPr lang="en-US" sz="1050">
                <a:latin typeface="Arial"/>
                <a:cs typeface="Arial"/>
              </a:rPr>
              <a:t>PHY 329: Introduction to Computational Physics, Department of Physics</a:t>
            </a:r>
            <a:r>
              <a:rPr lang="en-US" sz="1050" baseline="0">
                <a:latin typeface="Arial"/>
                <a:cs typeface="Arial"/>
              </a:rPr>
              <a:t>, The University of Texas at Austin</a:t>
            </a:r>
            <a:endParaRPr lang="en-US" sz="1050">
              <a:latin typeface="Arial"/>
              <a:cs typeface="Arial"/>
            </a:endParaRPr>
          </a:p>
        </p:txBody>
      </p:sp>
      <p:sp>
        <p:nvSpPr>
          <p:cNvPr id="12" name="Text Placeholder 9"/>
          <p:cNvSpPr txBox="1">
            <a:spLocks/>
          </p:cNvSpPr>
          <p:nvPr/>
        </p:nvSpPr>
        <p:spPr>
          <a:xfrm>
            <a:off x="548640" y="457200"/>
            <a:ext cx="7828444" cy="38929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a:buNone/>
              <a:defRPr sz="16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spcAft>
                <a:spcPts val="0"/>
              </a:spcAft>
            </a:pPr>
            <a:r>
              <a:rPr lang="en-US" sz="1200" b="0" i="0" cap="all" baseline="0">
                <a:latin typeface="Arial Black" charset="0"/>
              </a:rPr>
              <a:t>Fall 2025</a:t>
            </a:r>
            <a:endParaRPr lang="en-US" sz="1200" b="0"/>
          </a:p>
        </p:txBody>
      </p:sp>
      <p:sp>
        <p:nvSpPr>
          <p:cNvPr id="13" name="Title Placeholder 7"/>
          <p:cNvSpPr txBox="1">
            <a:spLocks/>
          </p:cNvSpPr>
          <p:nvPr/>
        </p:nvSpPr>
        <p:spPr>
          <a:xfrm>
            <a:off x="546052" y="1221716"/>
            <a:ext cx="8328803" cy="1731034"/>
          </a:xfrm>
          <a:prstGeom prst="rect">
            <a:avLst/>
          </a:prstGeom>
        </p:spPr>
        <p:txBody>
          <a:bodyPr vert="horz" wrap="square" lIns="91440" tIns="45720" rIns="91440" bIns="45720" rtlCol="0" anchor="b">
            <a:noAutofit/>
          </a:bodyPr>
          <a:lst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a:lstStyle>
          <a:p>
            <a:pPr fontAlgn="auto">
              <a:spcAft>
                <a:spcPts val="0"/>
              </a:spcAft>
            </a:pPr>
            <a:r>
              <a:rPr lang="en-US" sz="3500">
                <a:latin typeface="Arial Black"/>
              </a:rPr>
              <a:t>Efficient Sequence Modelling with Structured State Spaces (S4)</a:t>
            </a:r>
          </a:p>
        </p:txBody>
      </p:sp>
      <p:sp>
        <p:nvSpPr>
          <p:cNvPr id="15" name="Text Placeholder 9"/>
          <p:cNvSpPr txBox="1">
            <a:spLocks/>
          </p:cNvSpPr>
          <p:nvPr/>
        </p:nvSpPr>
        <p:spPr>
          <a:xfrm>
            <a:off x="548640" y="3333749"/>
            <a:ext cx="7886700" cy="45720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a:buNone/>
              <a:defRPr sz="1400" b="0" i="0" kern="1200" baseline="0">
                <a:solidFill>
                  <a:schemeClr val="bg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bg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bg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bg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auto">
              <a:spcAft>
                <a:spcPts val="0"/>
              </a:spcAft>
            </a:pPr>
            <a:r>
              <a:rPr lang="en-US"/>
              <a:t>Implementing and Analyzing a Scalable Model for Long-Range Dependencies</a:t>
            </a:r>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8699" y="320040"/>
            <a:ext cx="1877397" cy="914400"/>
          </a:xfrm>
          <a:prstGeom prst="rect">
            <a:avLst/>
          </a:prstGeom>
        </p:spPr>
      </p:pic>
    </p:spTree>
    <p:extLst>
      <p:ext uri="{BB962C8B-B14F-4D97-AF65-F5344CB8AC3E}">
        <p14:creationId xmlns:p14="http://schemas.microsoft.com/office/powerpoint/2010/main" val="247584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D1444-2607-27E9-8319-5F9584D2E7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BD6F6A-EFC4-D2F7-DE41-CE9173376746}"/>
              </a:ext>
            </a:extLst>
          </p:cNvPr>
          <p:cNvSpPr>
            <a:spLocks noGrp="1"/>
          </p:cNvSpPr>
          <p:nvPr>
            <p:ph type="title"/>
          </p:nvPr>
        </p:nvSpPr>
        <p:spPr>
          <a:xfrm>
            <a:off x="457200" y="511687"/>
            <a:ext cx="8229600" cy="857250"/>
          </a:xfrm>
        </p:spPr>
        <p:txBody>
          <a:bodyPr>
            <a:normAutofit/>
          </a:bodyPr>
          <a:lstStyle/>
          <a:p>
            <a:r>
              <a:rPr lang="en-US" sz="3600"/>
              <a:t>Outline</a:t>
            </a:r>
          </a:p>
        </p:txBody>
      </p:sp>
      <p:sp>
        <p:nvSpPr>
          <p:cNvPr id="5" name="Content Placeholder 4">
            <a:extLst>
              <a:ext uri="{FF2B5EF4-FFF2-40B4-BE49-F238E27FC236}">
                <a16:creationId xmlns:a16="http://schemas.microsoft.com/office/drawing/2014/main" id="{D979F092-FEBA-E0D7-61A2-39276C22332C}"/>
              </a:ext>
            </a:extLst>
          </p:cNvPr>
          <p:cNvSpPr>
            <a:spLocks noGrp="1"/>
          </p:cNvSpPr>
          <p:nvPr>
            <p:ph idx="1"/>
          </p:nvPr>
        </p:nvSpPr>
        <p:spPr/>
        <p:txBody>
          <a:bodyPr vert="horz" lIns="91440" tIns="45720" rIns="91440" bIns="45720" rtlCol="0" anchor="t">
            <a:normAutofit/>
          </a:bodyPr>
          <a:lstStyle/>
          <a:p>
            <a:endParaRPr lang="en-US" sz="1600">
              <a:cs typeface="Arial"/>
            </a:endParaRPr>
          </a:p>
          <a:p>
            <a:endParaRPr lang="en-US" sz="1600"/>
          </a:p>
          <a:p>
            <a:endParaRPr lang="en-US" sz="1600"/>
          </a:p>
        </p:txBody>
      </p:sp>
      <p:sp>
        <p:nvSpPr>
          <p:cNvPr id="3" name="Content Placeholder 4">
            <a:extLst>
              <a:ext uri="{FF2B5EF4-FFF2-40B4-BE49-F238E27FC236}">
                <a16:creationId xmlns:a16="http://schemas.microsoft.com/office/drawing/2014/main" id="{9FCE04DB-49C4-A1D2-5AE1-B92C4FEBFBC2}"/>
              </a:ext>
            </a:extLst>
          </p:cNvPr>
          <p:cNvSpPr txBox="1">
            <a:spLocks/>
          </p:cNvSpPr>
          <p:nvPr/>
        </p:nvSpPr>
        <p:spPr>
          <a:xfrm>
            <a:off x="452898" y="1376563"/>
            <a:ext cx="8229600" cy="3265239"/>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3200" kern="1200">
                <a:solidFill>
                  <a:schemeClr val="bg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buFont typeface="Calibri"/>
              <a:buChar char="-"/>
            </a:pPr>
            <a:r>
              <a:rPr lang="en-US" sz="1400">
                <a:cs typeface="Arial"/>
              </a:rPr>
              <a:t>S4 overview + motivation</a:t>
            </a:r>
          </a:p>
          <a:p>
            <a:pPr lvl="1">
              <a:spcAft>
                <a:spcPts val="0"/>
              </a:spcAft>
              <a:buFont typeface="Courier New"/>
              <a:buChar char="o"/>
            </a:pPr>
            <a:r>
              <a:rPr lang="en-US" sz="1400" err="1">
                <a:cs typeface="Arial"/>
              </a:rPr>
              <a:t>HiPPO-LegS</a:t>
            </a:r>
            <a:endParaRPr lang="en-US" sz="1400">
              <a:cs typeface="Arial"/>
            </a:endParaRPr>
          </a:p>
          <a:p>
            <a:pPr lvl="1">
              <a:spcAft>
                <a:spcPts val="0"/>
              </a:spcAft>
              <a:buFont typeface="Courier New"/>
              <a:buChar char="o"/>
            </a:pPr>
            <a:r>
              <a:rPr lang="en-US" sz="1400">
                <a:cs typeface="Arial"/>
              </a:rPr>
              <a:t>Discretization (bilinear/Tustin transform)</a:t>
            </a:r>
          </a:p>
          <a:p>
            <a:pPr>
              <a:spcAft>
                <a:spcPts val="0"/>
              </a:spcAft>
              <a:buFont typeface="Calibri"/>
              <a:buChar char="-"/>
            </a:pPr>
            <a:r>
              <a:rPr lang="en-US" sz="1400">
                <a:cs typeface="Arial"/>
              </a:rPr>
              <a:t>Our custom model overview</a:t>
            </a:r>
          </a:p>
          <a:p>
            <a:pPr lvl="1">
              <a:spcAft>
                <a:spcPts val="0"/>
              </a:spcAft>
              <a:buFont typeface="Courier New"/>
              <a:buChar char="o"/>
            </a:pPr>
            <a:r>
              <a:rPr lang="en-US" sz="1400">
                <a:cs typeface="Arial"/>
              </a:rPr>
              <a:t>Compare S4 to RNN</a:t>
            </a:r>
          </a:p>
          <a:p>
            <a:pPr lvl="1">
              <a:spcAft>
                <a:spcPts val="0"/>
              </a:spcAft>
              <a:buFont typeface="Courier New"/>
              <a:buChar char="o"/>
            </a:pPr>
            <a:r>
              <a:rPr lang="en-US" sz="1400">
                <a:cs typeface="Arial"/>
              </a:rPr>
              <a:t>Code structure</a:t>
            </a:r>
          </a:p>
          <a:p>
            <a:pPr>
              <a:spcAft>
                <a:spcPts val="0"/>
              </a:spcAft>
              <a:buFont typeface="Calibri"/>
              <a:buChar char="-"/>
            </a:pPr>
            <a:r>
              <a:rPr lang="en-US" sz="1400">
                <a:cs typeface="Arial"/>
              </a:rPr>
              <a:t>Training/evaluation</a:t>
            </a:r>
          </a:p>
          <a:p>
            <a:pPr lvl="1">
              <a:spcAft>
                <a:spcPts val="0"/>
              </a:spcAft>
              <a:buFont typeface="Courier New"/>
              <a:buChar char="o"/>
            </a:pPr>
            <a:r>
              <a:rPr lang="en-US" sz="1400">
                <a:cs typeface="Arial"/>
              </a:rPr>
              <a:t>Previous bit task + results (&gt;96% accuracy)</a:t>
            </a:r>
          </a:p>
          <a:p>
            <a:pPr lvl="1">
              <a:spcAft>
                <a:spcPts val="0"/>
              </a:spcAft>
              <a:buFont typeface="Courier New"/>
              <a:buChar char="o"/>
            </a:pPr>
            <a:r>
              <a:rPr lang="en-US" sz="1400">
                <a:cs typeface="Arial"/>
              </a:rPr>
              <a:t>Memory copy task + results (~61% accuracy)</a:t>
            </a:r>
          </a:p>
          <a:p>
            <a:pPr lvl="1">
              <a:spcAft>
                <a:spcPts val="0"/>
              </a:spcAft>
              <a:buFont typeface="Courier New"/>
              <a:buChar char="o"/>
            </a:pPr>
            <a:r>
              <a:rPr lang="en-US" sz="1400">
                <a:cs typeface="Arial"/>
              </a:rPr>
              <a:t>Compare the 2 tasks</a:t>
            </a:r>
          </a:p>
          <a:p>
            <a:pPr>
              <a:spcAft>
                <a:spcPts val="0"/>
              </a:spcAft>
              <a:buFont typeface="Calibri"/>
              <a:buChar char="-"/>
            </a:pPr>
            <a:r>
              <a:rPr lang="en-US" sz="1400">
                <a:cs typeface="Arial"/>
              </a:rPr>
              <a:t>Challenges + takeaways</a:t>
            </a:r>
          </a:p>
          <a:p>
            <a:pPr>
              <a:spcAft>
                <a:spcPts val="0"/>
              </a:spcAft>
              <a:buFont typeface="Calibri"/>
              <a:buChar char="-"/>
            </a:pPr>
            <a:r>
              <a:rPr lang="en-US" sz="1400">
                <a:cs typeface="Arial"/>
              </a:rPr>
              <a:t>Future work</a:t>
            </a:r>
          </a:p>
          <a:p>
            <a:pPr>
              <a:spcAft>
                <a:spcPts val="0"/>
              </a:spcAft>
              <a:buFont typeface="Calibri"/>
              <a:buChar char="-"/>
            </a:pPr>
            <a:r>
              <a:rPr lang="en-US" sz="1400">
                <a:cs typeface="Arial"/>
              </a:rPr>
              <a:t>Conclusion</a:t>
            </a:r>
          </a:p>
          <a:p>
            <a:pPr>
              <a:spcAft>
                <a:spcPts val="0"/>
              </a:spcAft>
              <a:buFont typeface="Calibri"/>
              <a:buChar char="-"/>
            </a:pPr>
            <a:endParaRPr lang="en-US" sz="1600">
              <a:cs typeface="Arial"/>
            </a:endParaRPr>
          </a:p>
          <a:p>
            <a:pPr fontAlgn="auto">
              <a:spcAft>
                <a:spcPts val="0"/>
              </a:spcAft>
              <a:buFont typeface="Calibri"/>
              <a:buChar char="-"/>
            </a:pPr>
            <a:endParaRPr lang="en-US" sz="1600">
              <a:cs typeface="Arial"/>
            </a:endParaRPr>
          </a:p>
          <a:p>
            <a:pPr fontAlgn="auto">
              <a:spcAft>
                <a:spcPts val="0"/>
              </a:spcAft>
              <a:buFont typeface="Calibri"/>
              <a:buChar char="-"/>
            </a:pPr>
            <a:endParaRPr lang="en-US" sz="1600">
              <a:cs typeface="Arial"/>
            </a:endParaRPr>
          </a:p>
        </p:txBody>
      </p:sp>
      <p:sp>
        <p:nvSpPr>
          <p:cNvPr id="2" name="TextBox 1">
            <a:extLst>
              <a:ext uri="{FF2B5EF4-FFF2-40B4-BE49-F238E27FC236}">
                <a16:creationId xmlns:a16="http://schemas.microsoft.com/office/drawing/2014/main" id="{F135421C-DAA2-09A3-D4A9-FF59C1E629BD}"/>
              </a:ext>
            </a:extLst>
          </p:cNvPr>
          <p:cNvSpPr txBox="1"/>
          <p:nvPr/>
        </p:nvSpPr>
        <p:spPr>
          <a:xfrm>
            <a:off x="5405279" y="1376393"/>
            <a:ext cx="210991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latin typeface="Arial"/>
                <a:cs typeface="Arial"/>
              </a:rPr>
              <a:t>GitHub: </a:t>
            </a:r>
            <a:r>
              <a:rPr lang="en-US" sz="1400">
                <a:solidFill>
                  <a:schemeClr val="bg1"/>
                </a:solidFill>
                <a:latin typeface="Arial"/>
                <a:cs typeface="Arial"/>
                <a:hlinkClick r:id="rId2">
                  <a:extLst>
                    <a:ext uri="{A12FA001-AC4F-418D-AE19-62706E023703}">
                      <ahyp:hlinkClr xmlns:ahyp="http://schemas.microsoft.com/office/drawing/2018/hyperlinkcolor" val="tx"/>
                    </a:ext>
                  </a:extLst>
                </a:hlinkClick>
              </a:rPr>
              <a:t>https://github.com/dan1oo/Cphy_SSM</a:t>
            </a:r>
            <a:r>
              <a:rPr lang="en-US" sz="1600">
                <a:solidFill>
                  <a:schemeClr val="bg1"/>
                </a:solidFill>
                <a:latin typeface="Arial"/>
                <a:cs typeface="Arial"/>
              </a:rPr>
              <a:t> </a:t>
            </a:r>
            <a:endParaRPr lang="en-US" sz="1600">
              <a:solidFill>
                <a:schemeClr val="bg1"/>
              </a:solidFill>
            </a:endParaRPr>
          </a:p>
        </p:txBody>
      </p:sp>
    </p:spTree>
    <p:extLst>
      <p:ext uri="{BB962C8B-B14F-4D97-AF65-F5344CB8AC3E}">
        <p14:creationId xmlns:p14="http://schemas.microsoft.com/office/powerpoint/2010/main" val="2498500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81C5-D935-BACB-FF62-625ECD83CA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3E3BCE-C732-4ECC-C3E0-EC1D41304D19}"/>
              </a:ext>
            </a:extLst>
          </p:cNvPr>
          <p:cNvSpPr>
            <a:spLocks noGrp="1"/>
          </p:cNvSpPr>
          <p:nvPr>
            <p:ph type="title"/>
          </p:nvPr>
        </p:nvSpPr>
        <p:spPr>
          <a:xfrm>
            <a:off x="457200" y="429610"/>
            <a:ext cx="8229600" cy="857250"/>
          </a:xfrm>
        </p:spPr>
        <p:txBody>
          <a:bodyPr>
            <a:normAutofit fontScale="90000"/>
          </a:bodyPr>
          <a:lstStyle/>
          <a:p>
            <a:r>
              <a:rPr lang="en-US" sz="3600" b="1" u="sng"/>
              <a:t>What are State Space Models (SSMs)?</a:t>
            </a:r>
            <a:endParaRPr lang="en-US" sz="3600" b="1" u="sng">
              <a:cs typeface="Arial"/>
            </a:endParaRPr>
          </a:p>
        </p:txBody>
      </p:sp>
      <p:sp>
        <p:nvSpPr>
          <p:cNvPr id="5" name="Content Placeholder 4">
            <a:extLst>
              <a:ext uri="{FF2B5EF4-FFF2-40B4-BE49-F238E27FC236}">
                <a16:creationId xmlns:a16="http://schemas.microsoft.com/office/drawing/2014/main" id="{846403B5-B46F-0568-9D4A-C87436D8A641}"/>
              </a:ext>
            </a:extLst>
          </p:cNvPr>
          <p:cNvSpPr>
            <a:spLocks noGrp="1"/>
          </p:cNvSpPr>
          <p:nvPr>
            <p:ph idx="1"/>
          </p:nvPr>
        </p:nvSpPr>
        <p:spPr>
          <a:xfrm>
            <a:off x="141890" y="1123835"/>
            <a:ext cx="8229600" cy="2953512"/>
          </a:xfrm>
        </p:spPr>
        <p:txBody>
          <a:bodyPr vert="horz" lIns="91440" tIns="45720" rIns="91440" bIns="45720" rtlCol="0" anchor="t">
            <a:normAutofit/>
          </a:bodyPr>
          <a:lstStyle/>
          <a:p>
            <a:r>
              <a:rPr lang="en-US" sz="1600"/>
              <a:t>State Space Models maps </a:t>
            </a:r>
            <a:r>
              <a:rPr lang="en-US" sz="1600" b="1" u="sng"/>
              <a:t>input sequences</a:t>
            </a:r>
            <a:r>
              <a:rPr lang="en-US" sz="1600"/>
              <a:t> (</a:t>
            </a:r>
            <a:r>
              <a:rPr lang="en-US" sz="1600" i="1"/>
              <a:t>u</a:t>
            </a:r>
            <a:r>
              <a:rPr lang="en-US" sz="1600"/>
              <a:t> = (</a:t>
            </a:r>
            <a:r>
              <a:rPr lang="en-US" sz="1600" i="1"/>
              <a:t>u</a:t>
            </a:r>
            <a:r>
              <a:rPr lang="en-US" sz="1600" baseline="-25000"/>
              <a:t>1</a:t>
            </a:r>
            <a:r>
              <a:rPr lang="en-US" sz="1600"/>
              <a:t>, </a:t>
            </a:r>
            <a:r>
              <a:rPr lang="en-US" sz="1600" i="1"/>
              <a:t>u</a:t>
            </a:r>
            <a:r>
              <a:rPr lang="en-US" sz="1600" baseline="-25000"/>
              <a:t>2</a:t>
            </a:r>
            <a:r>
              <a:rPr lang="en-US" sz="1600"/>
              <a:t>, …, </a:t>
            </a:r>
            <a:r>
              <a:rPr lang="en-US" sz="1600" i="1" err="1"/>
              <a:t>u</a:t>
            </a:r>
            <a:r>
              <a:rPr lang="en-US" sz="1600" baseline="-25000" err="1"/>
              <a:t>k</a:t>
            </a:r>
            <a:r>
              <a:rPr lang="en-US" sz="1600"/>
              <a:t>)) to </a:t>
            </a:r>
            <a:r>
              <a:rPr lang="en-US" sz="1600" b="1" u="sng"/>
              <a:t>output sequences</a:t>
            </a:r>
            <a:r>
              <a:rPr lang="en-US" sz="1600"/>
              <a:t> (</a:t>
            </a:r>
            <a:r>
              <a:rPr lang="en-US" sz="1600" i="1"/>
              <a:t>y</a:t>
            </a:r>
            <a:r>
              <a:rPr lang="en-US" sz="1600"/>
              <a:t> = (</a:t>
            </a:r>
            <a:r>
              <a:rPr lang="en-US" sz="1600" i="1"/>
              <a:t>y</a:t>
            </a:r>
            <a:r>
              <a:rPr lang="en-US" sz="1600" baseline="-25000"/>
              <a:t>1</a:t>
            </a:r>
            <a:r>
              <a:rPr lang="en-US" sz="1600"/>
              <a:t>, </a:t>
            </a:r>
            <a:r>
              <a:rPr lang="en-US" sz="1600" i="1"/>
              <a:t>y</a:t>
            </a:r>
            <a:r>
              <a:rPr lang="en-US" sz="1600" baseline="-25000"/>
              <a:t>2</a:t>
            </a:r>
            <a:r>
              <a:rPr lang="en-US" sz="1600"/>
              <a:t>, …, </a:t>
            </a:r>
            <a:r>
              <a:rPr lang="en-US" sz="1600" i="1" err="1"/>
              <a:t>y</a:t>
            </a:r>
            <a:r>
              <a:rPr lang="en-US" sz="1600" baseline="-25000" err="1"/>
              <a:t>k</a:t>
            </a:r>
            <a:r>
              <a:rPr lang="en-US" sz="1600"/>
              <a:t>))  with </a:t>
            </a:r>
            <a:r>
              <a:rPr lang="en-US" sz="1600" b="1" u="sng"/>
              <a:t>hidden states</a:t>
            </a:r>
            <a:r>
              <a:rPr lang="en-US" sz="1600"/>
              <a:t> (</a:t>
            </a:r>
            <a:r>
              <a:rPr lang="en-US" sz="1600" i="1"/>
              <a:t>x</a:t>
            </a:r>
            <a:r>
              <a:rPr lang="en-US" sz="1600"/>
              <a:t> = (</a:t>
            </a:r>
            <a:r>
              <a:rPr lang="en-US" sz="1600" i="1"/>
              <a:t>x</a:t>
            </a:r>
            <a:r>
              <a:rPr lang="en-US" sz="1600" baseline="-25000"/>
              <a:t>1</a:t>
            </a:r>
            <a:r>
              <a:rPr lang="en-US" sz="1600"/>
              <a:t>, … </a:t>
            </a:r>
            <a:r>
              <a:rPr lang="en-US" sz="1600" i="1" err="1"/>
              <a:t>x</a:t>
            </a:r>
            <a:r>
              <a:rPr lang="en-US" sz="1600" baseline="-25000" err="1"/>
              <a:t>m</a:t>
            </a:r>
            <a:r>
              <a:rPr lang="en-US" sz="1600"/>
              <a:t>))</a:t>
            </a:r>
          </a:p>
          <a:p>
            <a:r>
              <a:rPr lang="en-US" sz="1600"/>
              <a:t>Used in </a:t>
            </a:r>
            <a:r>
              <a:rPr lang="en-US" sz="1600" b="1" u="sng"/>
              <a:t>time-series</a:t>
            </a:r>
            <a:r>
              <a:rPr lang="en-US" sz="1600"/>
              <a:t> applications: control systems, signal processing</a:t>
            </a:r>
            <a:endParaRPr lang="en-US" sz="1600">
              <a:cs typeface="Arial"/>
            </a:endParaRPr>
          </a:p>
          <a:p>
            <a:r>
              <a:rPr lang="en-US" sz="1600">
                <a:cs typeface="Arial"/>
              </a:rPr>
              <a:t>Continuous --&gt; Discrete</a:t>
            </a:r>
          </a:p>
          <a:p>
            <a:r>
              <a:rPr lang="en-US" sz="1600" b="1" u="sng">
                <a:cs typeface="Arial"/>
              </a:rPr>
              <a:t>Recurrence version</a:t>
            </a:r>
            <a:r>
              <a:rPr lang="en-US" sz="1600">
                <a:cs typeface="Arial"/>
              </a:rPr>
              <a:t>: state </a:t>
            </a:r>
            <a:r>
              <a:rPr lang="en-US" sz="1600" b="1" i="1" err="1">
                <a:cs typeface="Arial"/>
              </a:rPr>
              <a:t>x</a:t>
            </a:r>
            <a:r>
              <a:rPr lang="en-US" sz="1600" baseline="-25000" err="1">
                <a:cs typeface="Arial"/>
              </a:rPr>
              <a:t>k</a:t>
            </a:r>
            <a:r>
              <a:rPr lang="en-US" sz="1600">
                <a:cs typeface="Arial"/>
              </a:rPr>
              <a:t> carries the context of all the input states </a:t>
            </a:r>
            <a:r>
              <a:rPr lang="en-US" sz="1600" i="1" err="1">
                <a:cs typeface="Arial"/>
              </a:rPr>
              <a:t>u</a:t>
            </a:r>
            <a:r>
              <a:rPr lang="en-US" sz="1600" baseline="-25000" err="1">
                <a:cs typeface="Arial"/>
              </a:rPr>
              <a:t>t</a:t>
            </a:r>
            <a:r>
              <a:rPr lang="en-US" sz="1600">
                <a:cs typeface="Arial"/>
              </a:rPr>
              <a:t>, </a:t>
            </a:r>
            <a:r>
              <a:rPr lang="en-US" sz="1600" i="1">
                <a:cs typeface="Arial"/>
              </a:rPr>
              <a:t>t </a:t>
            </a:r>
            <a:r>
              <a:rPr lang="en-US" sz="1600">
                <a:cs typeface="Arial"/>
              </a:rPr>
              <a:t>&lt; </a:t>
            </a:r>
            <a:r>
              <a:rPr lang="en-US" sz="1600" i="1">
                <a:cs typeface="Arial"/>
              </a:rPr>
              <a:t>k</a:t>
            </a:r>
          </a:p>
          <a:p>
            <a:r>
              <a:rPr lang="en-US" sz="1600" b="1" u="sng">
                <a:cs typeface="Arial"/>
              </a:rPr>
              <a:t>Convolution version</a:t>
            </a:r>
            <a:r>
              <a:rPr lang="en-US" sz="1600">
                <a:cs typeface="Arial"/>
              </a:rPr>
              <a:t>: find the convolution kernel that maps </a:t>
            </a:r>
            <a:r>
              <a:rPr lang="en-US" sz="1600" i="1">
                <a:cs typeface="Arial"/>
              </a:rPr>
              <a:t>u</a:t>
            </a:r>
            <a:r>
              <a:rPr lang="en-US" sz="1600">
                <a:cs typeface="Arial"/>
              </a:rPr>
              <a:t> to </a:t>
            </a:r>
            <a:r>
              <a:rPr lang="en-US" sz="1600" i="1">
                <a:cs typeface="Arial"/>
              </a:rPr>
              <a:t>y</a:t>
            </a:r>
            <a:r>
              <a:rPr lang="en-US" sz="1600">
                <a:cs typeface="Arial"/>
              </a:rPr>
              <a:t> directly</a:t>
            </a:r>
          </a:p>
          <a:p>
            <a:endParaRPr lang="en-US" sz="1600">
              <a:cs typeface="Arial"/>
            </a:endParaRPr>
          </a:p>
          <a:p>
            <a:endParaRPr lang="en-US" sz="1600">
              <a:cs typeface="Arial"/>
            </a:endParaRPr>
          </a:p>
          <a:p>
            <a:endParaRPr lang="en-US" sz="1600">
              <a:cs typeface="Arial"/>
            </a:endParaRPr>
          </a:p>
          <a:p>
            <a:endParaRPr lang="en-US" sz="1600">
              <a:cs typeface="Arial"/>
            </a:endParaRPr>
          </a:p>
          <a:p>
            <a:endParaRPr lang="en-US" sz="1600">
              <a:cs typeface="Arial"/>
            </a:endParaRPr>
          </a:p>
        </p:txBody>
      </p:sp>
      <p:pic>
        <p:nvPicPr>
          <p:cNvPr id="2" name="Picture 1" descr="SSM.png">
            <a:extLst>
              <a:ext uri="{FF2B5EF4-FFF2-40B4-BE49-F238E27FC236}">
                <a16:creationId xmlns:a16="http://schemas.microsoft.com/office/drawing/2014/main" id="{AB4F61D1-2BFF-AFA9-237D-0A47AF21F378}"/>
              </a:ext>
            </a:extLst>
          </p:cNvPr>
          <p:cNvPicPr>
            <a:picLocks noChangeAspect="1"/>
          </p:cNvPicPr>
          <p:nvPr/>
        </p:nvPicPr>
        <p:blipFill>
          <a:blip r:embed="rId3"/>
          <a:stretch>
            <a:fillRect/>
          </a:stretch>
        </p:blipFill>
        <p:spPr>
          <a:xfrm>
            <a:off x="5886636" y="3755575"/>
            <a:ext cx="2743199" cy="1033397"/>
          </a:xfrm>
          <a:prstGeom prst="rect">
            <a:avLst/>
          </a:prstGeom>
        </p:spPr>
      </p:pic>
      <p:sp>
        <p:nvSpPr>
          <p:cNvPr id="6" name="TextBox 5">
            <a:extLst>
              <a:ext uri="{FF2B5EF4-FFF2-40B4-BE49-F238E27FC236}">
                <a16:creationId xmlns:a16="http://schemas.microsoft.com/office/drawing/2014/main" id="{106668BD-DA69-77CF-6A80-8C18A301E516}"/>
              </a:ext>
            </a:extLst>
          </p:cNvPr>
          <p:cNvSpPr txBox="1"/>
          <p:nvPr/>
        </p:nvSpPr>
        <p:spPr>
          <a:xfrm>
            <a:off x="6563140" y="4790448"/>
            <a:ext cx="181303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Arial"/>
                <a:cs typeface="Arial"/>
              </a:rPr>
              <a:t>(let </a:t>
            </a:r>
            <a:r>
              <a:rPr lang="en-US" sz="1600" i="1">
                <a:solidFill>
                  <a:schemeClr val="bg1"/>
                </a:solidFill>
                <a:latin typeface="Arial"/>
                <a:cs typeface="Arial"/>
              </a:rPr>
              <a:t>D</a:t>
            </a:r>
            <a:r>
              <a:rPr lang="en-US" sz="1600">
                <a:solidFill>
                  <a:schemeClr val="bg1"/>
                </a:solidFill>
                <a:latin typeface="Arial"/>
                <a:cs typeface="Arial"/>
              </a:rPr>
              <a:t> = 0)</a:t>
            </a:r>
            <a:endParaRPr lang="en-US" sz="1600">
              <a:solidFill>
                <a:schemeClr val="bg1"/>
              </a:solidFill>
            </a:endParaRPr>
          </a:p>
        </p:txBody>
      </p:sp>
      <p:pic>
        <p:nvPicPr>
          <p:cNvPr id="8" name="Picture 7" descr="A diagram of a machine&#10;&#10;AI-generated content may be incorrect.">
            <a:extLst>
              <a:ext uri="{FF2B5EF4-FFF2-40B4-BE49-F238E27FC236}">
                <a16:creationId xmlns:a16="http://schemas.microsoft.com/office/drawing/2014/main" id="{9757D3A8-354A-E6E9-1182-B2C584E712EE}"/>
              </a:ext>
            </a:extLst>
          </p:cNvPr>
          <p:cNvPicPr>
            <a:picLocks noChangeAspect="1"/>
          </p:cNvPicPr>
          <p:nvPr/>
        </p:nvPicPr>
        <p:blipFill>
          <a:blip r:embed="rId4"/>
          <a:stretch>
            <a:fillRect/>
          </a:stretch>
        </p:blipFill>
        <p:spPr>
          <a:xfrm>
            <a:off x="458931" y="3738205"/>
            <a:ext cx="2771237" cy="1408467"/>
          </a:xfrm>
          <a:prstGeom prst="rect">
            <a:avLst/>
          </a:prstGeom>
        </p:spPr>
      </p:pic>
      <p:pic>
        <p:nvPicPr>
          <p:cNvPr id="9" name="Picture 8" descr="A group of black letters&#10;&#10;AI-generated content may be incorrect.">
            <a:extLst>
              <a:ext uri="{FF2B5EF4-FFF2-40B4-BE49-F238E27FC236}">
                <a16:creationId xmlns:a16="http://schemas.microsoft.com/office/drawing/2014/main" id="{6C6A922B-29B6-E3A7-12BF-71CBFE21389F}"/>
              </a:ext>
            </a:extLst>
          </p:cNvPr>
          <p:cNvPicPr>
            <a:picLocks noChangeAspect="1"/>
          </p:cNvPicPr>
          <p:nvPr/>
        </p:nvPicPr>
        <p:blipFill>
          <a:blip r:embed="rId5"/>
          <a:stretch>
            <a:fillRect/>
          </a:stretch>
        </p:blipFill>
        <p:spPr>
          <a:xfrm>
            <a:off x="138545" y="2952918"/>
            <a:ext cx="4173683" cy="624752"/>
          </a:xfrm>
          <a:prstGeom prst="rect">
            <a:avLst/>
          </a:prstGeom>
        </p:spPr>
      </p:pic>
      <p:pic>
        <p:nvPicPr>
          <p:cNvPr id="10" name="Picture 9" descr="A black text on a white background&#10;&#10;AI-generated content may be incorrect.">
            <a:extLst>
              <a:ext uri="{FF2B5EF4-FFF2-40B4-BE49-F238E27FC236}">
                <a16:creationId xmlns:a16="http://schemas.microsoft.com/office/drawing/2014/main" id="{0A029C73-1816-87D8-7E25-EB1AE67C67F2}"/>
              </a:ext>
            </a:extLst>
          </p:cNvPr>
          <p:cNvPicPr>
            <a:picLocks noChangeAspect="1"/>
          </p:cNvPicPr>
          <p:nvPr/>
        </p:nvPicPr>
        <p:blipFill>
          <a:blip r:embed="rId6"/>
          <a:stretch>
            <a:fillRect/>
          </a:stretch>
        </p:blipFill>
        <p:spPr>
          <a:xfrm>
            <a:off x="4537052" y="2951367"/>
            <a:ext cx="4317423" cy="386196"/>
          </a:xfrm>
          <a:prstGeom prst="rect">
            <a:avLst/>
          </a:prstGeom>
        </p:spPr>
      </p:pic>
      <p:pic>
        <p:nvPicPr>
          <p:cNvPr id="11" name="Picture 10" descr="A black and white image of a number&#10;&#10;AI-generated content may be incorrect.">
            <a:extLst>
              <a:ext uri="{FF2B5EF4-FFF2-40B4-BE49-F238E27FC236}">
                <a16:creationId xmlns:a16="http://schemas.microsoft.com/office/drawing/2014/main" id="{BF3C26C0-4952-3FA8-6618-5984091A03D9}"/>
              </a:ext>
            </a:extLst>
          </p:cNvPr>
          <p:cNvPicPr>
            <a:picLocks noChangeAspect="1"/>
          </p:cNvPicPr>
          <p:nvPr/>
        </p:nvPicPr>
        <p:blipFill>
          <a:blip r:embed="rId7"/>
          <a:stretch>
            <a:fillRect/>
          </a:stretch>
        </p:blipFill>
        <p:spPr>
          <a:xfrm>
            <a:off x="4534455" y="3351293"/>
            <a:ext cx="4062846" cy="323850"/>
          </a:xfrm>
          <a:prstGeom prst="rect">
            <a:avLst/>
          </a:prstGeom>
        </p:spPr>
      </p:pic>
    </p:spTree>
    <p:extLst>
      <p:ext uri="{BB962C8B-B14F-4D97-AF65-F5344CB8AC3E}">
        <p14:creationId xmlns:p14="http://schemas.microsoft.com/office/powerpoint/2010/main" val="342497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410AF-652A-B1EA-F3D1-4868410697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0471DD-16CE-45BC-CC65-223C9587CA70}"/>
              </a:ext>
            </a:extLst>
          </p:cNvPr>
          <p:cNvSpPr>
            <a:spLocks noGrp="1"/>
          </p:cNvSpPr>
          <p:nvPr>
            <p:ph type="title"/>
          </p:nvPr>
        </p:nvSpPr>
        <p:spPr>
          <a:xfrm>
            <a:off x="1741983" y="428903"/>
            <a:ext cx="8229600" cy="857250"/>
          </a:xfrm>
        </p:spPr>
        <p:txBody>
          <a:bodyPr>
            <a:normAutofit/>
          </a:bodyPr>
          <a:lstStyle/>
          <a:p>
            <a:r>
              <a:rPr lang="en-US" sz="3600" b="1" u="sng"/>
              <a:t>Our Model Overview (S4)</a:t>
            </a:r>
            <a:endParaRPr lang="en-US" sz="3600" b="1" u="sng">
              <a:cs typeface="Arial"/>
            </a:endParaRPr>
          </a:p>
        </p:txBody>
      </p:sp>
      <p:sp>
        <p:nvSpPr>
          <p:cNvPr id="5" name="Content Placeholder 4">
            <a:extLst>
              <a:ext uri="{FF2B5EF4-FFF2-40B4-BE49-F238E27FC236}">
                <a16:creationId xmlns:a16="http://schemas.microsoft.com/office/drawing/2014/main" id="{60DAF18A-2D9B-D6C6-D2DB-D3EEDDC88808}"/>
              </a:ext>
            </a:extLst>
          </p:cNvPr>
          <p:cNvSpPr>
            <a:spLocks noGrp="1"/>
          </p:cNvSpPr>
          <p:nvPr>
            <p:ph idx="1"/>
          </p:nvPr>
        </p:nvSpPr>
        <p:spPr>
          <a:xfrm>
            <a:off x="4313" y="1153400"/>
            <a:ext cx="8186468" cy="2791767"/>
          </a:xfrm>
        </p:spPr>
        <p:txBody>
          <a:bodyPr vert="horz" lIns="91440" tIns="45720" rIns="91440" bIns="45720" rtlCol="0" anchor="t">
            <a:normAutofit/>
          </a:bodyPr>
          <a:lstStyle/>
          <a:p>
            <a:r>
              <a:rPr lang="en-US" sz="1600">
                <a:cs typeface="Arial"/>
              </a:rPr>
              <a:t>Implements a </a:t>
            </a:r>
            <a:r>
              <a:rPr lang="en-US" sz="1600" b="1" u="sng">
                <a:cs typeface="Arial"/>
              </a:rPr>
              <a:t>Structured State Space Model (S4)</a:t>
            </a:r>
            <a:r>
              <a:rPr lang="en-US" sz="1600">
                <a:cs typeface="Arial"/>
              </a:rPr>
              <a:t> for sequence modelling</a:t>
            </a:r>
          </a:p>
          <a:p>
            <a:r>
              <a:rPr lang="en-US" sz="1600">
                <a:cs typeface="Arial"/>
              </a:rPr>
              <a:t>Uses the </a:t>
            </a:r>
            <a:r>
              <a:rPr lang="en-US" sz="1600" b="1" u="sng" err="1">
                <a:cs typeface="Arial"/>
              </a:rPr>
              <a:t>HiPPO-LegS</a:t>
            </a:r>
            <a:r>
              <a:rPr lang="en-US" sz="1600" b="1" u="sng">
                <a:cs typeface="Arial"/>
              </a:rPr>
              <a:t> operator</a:t>
            </a:r>
            <a:r>
              <a:rPr lang="en-US" sz="1600">
                <a:cs typeface="Arial"/>
              </a:rPr>
              <a:t> to define the continuous-time state matrix </a:t>
            </a:r>
            <a:r>
              <a:rPr lang="en-US" sz="1600" b="1" i="1">
                <a:cs typeface="Arial"/>
              </a:rPr>
              <a:t>A</a:t>
            </a:r>
          </a:p>
          <a:p>
            <a:r>
              <a:rPr lang="en-US" sz="1600">
                <a:cs typeface="Arial"/>
              </a:rPr>
              <a:t>Discretized using the </a:t>
            </a:r>
            <a:r>
              <a:rPr lang="en-US" sz="1600" b="1" u="sng">
                <a:cs typeface="Arial"/>
              </a:rPr>
              <a:t>bilinear</a:t>
            </a:r>
            <a:r>
              <a:rPr lang="en-US" sz="1600">
                <a:cs typeface="Arial"/>
              </a:rPr>
              <a:t> (Tustin) </a:t>
            </a:r>
            <a:r>
              <a:rPr lang="en-US" sz="1600" b="1" u="sng">
                <a:cs typeface="Arial"/>
              </a:rPr>
              <a:t>transform</a:t>
            </a:r>
            <a:r>
              <a:rPr lang="en-US" sz="1600">
                <a:cs typeface="Arial"/>
              </a:rPr>
              <a:t> to obtain </a:t>
            </a:r>
            <a:r>
              <a:rPr lang="en-US" sz="1600" b="1" i="1" err="1">
                <a:cs typeface="Arial"/>
              </a:rPr>
              <a:t>A</a:t>
            </a:r>
            <a:r>
              <a:rPr lang="en-US" sz="1600" baseline="-25000" err="1">
                <a:cs typeface="Arial"/>
              </a:rPr>
              <a:t>disc</a:t>
            </a:r>
            <a:endParaRPr lang="en-US" sz="1600" baseline="-25000">
              <a:cs typeface="Arial"/>
            </a:endParaRPr>
          </a:p>
          <a:p>
            <a:r>
              <a:rPr lang="en-US" sz="1600">
                <a:cs typeface="Arial"/>
              </a:rPr>
              <a:t>Model maps input sequences u(t) to output sequences y(t) via:</a:t>
            </a:r>
          </a:p>
          <a:p>
            <a:r>
              <a:rPr lang="en-US" sz="1600">
                <a:cs typeface="Arial"/>
              </a:rPr>
              <a:t>Trained via </a:t>
            </a:r>
            <a:r>
              <a:rPr lang="en-US" sz="1600" b="1" u="sng">
                <a:cs typeface="Arial"/>
              </a:rPr>
              <a:t>gradient descent</a:t>
            </a:r>
            <a:r>
              <a:rPr lang="en-US" sz="1600">
                <a:cs typeface="Arial"/>
              </a:rPr>
              <a:t> with </a:t>
            </a:r>
            <a:r>
              <a:rPr lang="en-US" sz="1600" b="1" u="sng">
                <a:cs typeface="Arial"/>
              </a:rPr>
              <a:t>backpropagation through time (BPTT)</a:t>
            </a:r>
            <a:endParaRPr lang="en-US" b="1" u="sng"/>
          </a:p>
          <a:p>
            <a:r>
              <a:rPr lang="en-US" sz="1600">
                <a:cs typeface="Arial"/>
              </a:rPr>
              <a:t>We do not implement the FFT-based convolution kernel </a:t>
            </a:r>
            <a:r>
              <a:rPr lang="en-US" sz="1600" b="1">
                <a:cs typeface="Arial"/>
              </a:rPr>
              <a:t>K-hat</a:t>
            </a:r>
            <a:r>
              <a:rPr lang="en-US" sz="1600">
                <a:cs typeface="Arial"/>
              </a:rPr>
              <a:t>(ω) from the original paper</a:t>
            </a:r>
          </a:p>
          <a:p>
            <a:pPr marL="0" indent="0">
              <a:buNone/>
            </a:pPr>
            <a:endParaRPr lang="en-US" sz="1600">
              <a:cs typeface="Arial"/>
            </a:endParaRPr>
          </a:p>
        </p:txBody>
      </p:sp>
      <p:pic>
        <p:nvPicPr>
          <p:cNvPr id="2" name="Picture 1" descr="simplified_ssm.png">
            <a:extLst>
              <a:ext uri="{FF2B5EF4-FFF2-40B4-BE49-F238E27FC236}">
                <a16:creationId xmlns:a16="http://schemas.microsoft.com/office/drawing/2014/main" id="{DB17B038-D11A-8DAD-0988-3425707D67F7}"/>
              </a:ext>
            </a:extLst>
          </p:cNvPr>
          <p:cNvPicPr>
            <a:picLocks noChangeAspect="1"/>
          </p:cNvPicPr>
          <p:nvPr/>
        </p:nvPicPr>
        <p:blipFill>
          <a:blip r:embed="rId3"/>
          <a:stretch>
            <a:fillRect/>
          </a:stretch>
        </p:blipFill>
        <p:spPr>
          <a:xfrm>
            <a:off x="6129337" y="2003846"/>
            <a:ext cx="2411107" cy="353289"/>
          </a:xfrm>
          <a:prstGeom prst="rect">
            <a:avLst/>
          </a:prstGeom>
        </p:spPr>
      </p:pic>
      <p:pic>
        <p:nvPicPr>
          <p:cNvPr id="3" name="Picture 2" descr="A close-up of a graph&#10;&#10;AI-generated content may be incorrect.">
            <a:extLst>
              <a:ext uri="{FF2B5EF4-FFF2-40B4-BE49-F238E27FC236}">
                <a16:creationId xmlns:a16="http://schemas.microsoft.com/office/drawing/2014/main" id="{EA12AE61-DF24-E987-5BC4-CE1C1D6A1661}"/>
              </a:ext>
            </a:extLst>
          </p:cNvPr>
          <p:cNvPicPr>
            <a:picLocks noChangeAspect="1"/>
          </p:cNvPicPr>
          <p:nvPr/>
        </p:nvPicPr>
        <p:blipFill>
          <a:blip r:embed="rId4"/>
          <a:stretch>
            <a:fillRect/>
          </a:stretch>
        </p:blipFill>
        <p:spPr>
          <a:xfrm>
            <a:off x="2904837" y="3028537"/>
            <a:ext cx="5640462" cy="1826531"/>
          </a:xfrm>
          <a:prstGeom prst="rect">
            <a:avLst/>
          </a:prstGeom>
        </p:spPr>
      </p:pic>
      <p:pic>
        <p:nvPicPr>
          <p:cNvPr id="7" name="Graphic 6" descr="Bilinear transform - Wikipedia">
            <a:extLst>
              <a:ext uri="{FF2B5EF4-FFF2-40B4-BE49-F238E27FC236}">
                <a16:creationId xmlns:a16="http://schemas.microsoft.com/office/drawing/2014/main" id="{9D5C44B3-C0AA-81BC-DE4F-E2768A27438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15" y="3278970"/>
            <a:ext cx="2743199" cy="1549955"/>
          </a:xfrm>
          <a:prstGeom prst="rect">
            <a:avLst/>
          </a:prstGeom>
        </p:spPr>
      </p:pic>
      <p:sp>
        <p:nvSpPr>
          <p:cNvPr id="8" name="TextBox 7">
            <a:extLst>
              <a:ext uri="{FF2B5EF4-FFF2-40B4-BE49-F238E27FC236}">
                <a16:creationId xmlns:a16="http://schemas.microsoft.com/office/drawing/2014/main" id="{A0354E6E-0FB3-3F21-EF3F-FAD294866D9B}"/>
              </a:ext>
            </a:extLst>
          </p:cNvPr>
          <p:cNvSpPr txBox="1"/>
          <p:nvPr/>
        </p:nvSpPr>
        <p:spPr>
          <a:xfrm>
            <a:off x="500595" y="3279353"/>
            <a:ext cx="645674" cy="2308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chemeClr val="bg1"/>
                </a:solidFill>
                <a:latin typeface="Arial"/>
                <a:cs typeface="Arial"/>
              </a:rPr>
              <a:t>Z-Plane</a:t>
            </a:r>
            <a:endParaRPr lang="en-US" sz="900">
              <a:solidFill>
                <a:schemeClr val="bg1"/>
              </a:solidFill>
            </a:endParaRPr>
          </a:p>
        </p:txBody>
      </p:sp>
      <p:sp>
        <p:nvSpPr>
          <p:cNvPr id="9" name="TextBox 8">
            <a:extLst>
              <a:ext uri="{FF2B5EF4-FFF2-40B4-BE49-F238E27FC236}">
                <a16:creationId xmlns:a16="http://schemas.microsoft.com/office/drawing/2014/main" id="{122F7377-9AB7-42D3-112A-9FAAEF823684}"/>
              </a:ext>
            </a:extLst>
          </p:cNvPr>
          <p:cNvSpPr txBox="1"/>
          <p:nvPr/>
        </p:nvSpPr>
        <p:spPr>
          <a:xfrm>
            <a:off x="1921211" y="3282611"/>
            <a:ext cx="730790" cy="2308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chemeClr val="bg1"/>
                </a:solidFill>
                <a:latin typeface="Arial"/>
                <a:cs typeface="Arial"/>
              </a:rPr>
              <a:t>S-Plane</a:t>
            </a:r>
            <a:endParaRPr lang="en-US" sz="900">
              <a:solidFill>
                <a:schemeClr val="bg1"/>
              </a:solidFill>
            </a:endParaRPr>
          </a:p>
        </p:txBody>
      </p:sp>
    </p:spTree>
    <p:extLst>
      <p:ext uri="{BB962C8B-B14F-4D97-AF65-F5344CB8AC3E}">
        <p14:creationId xmlns:p14="http://schemas.microsoft.com/office/powerpoint/2010/main" val="3196691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1DCF-371B-462E-A6FE-5E8A9E2696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21071C-F2F2-F94A-5EBB-C6C919F02F46}"/>
              </a:ext>
            </a:extLst>
          </p:cNvPr>
          <p:cNvSpPr>
            <a:spLocks noGrp="1"/>
          </p:cNvSpPr>
          <p:nvPr>
            <p:ph type="title"/>
          </p:nvPr>
        </p:nvSpPr>
        <p:spPr>
          <a:xfrm>
            <a:off x="3494999" y="229807"/>
            <a:ext cx="8229600" cy="857250"/>
          </a:xfrm>
        </p:spPr>
        <p:txBody>
          <a:bodyPr>
            <a:normAutofit/>
          </a:bodyPr>
          <a:lstStyle/>
          <a:p>
            <a:r>
              <a:rPr lang="en-US" sz="3600" b="1" u="sng">
                <a:cs typeface="Arial"/>
              </a:rPr>
              <a:t>HIPPO-</a:t>
            </a:r>
            <a:r>
              <a:rPr lang="en-US" sz="3600" b="1" u="sng" err="1">
                <a:cs typeface="Arial"/>
              </a:rPr>
              <a:t>LegS</a:t>
            </a:r>
            <a:endParaRPr lang="en-US" sz="3600" b="1" u="sng">
              <a:cs typeface="Arial"/>
            </a:endParaRPr>
          </a:p>
        </p:txBody>
      </p:sp>
      <p:sp>
        <p:nvSpPr>
          <p:cNvPr id="5" name="Content Placeholder 4">
            <a:extLst>
              <a:ext uri="{FF2B5EF4-FFF2-40B4-BE49-F238E27FC236}">
                <a16:creationId xmlns:a16="http://schemas.microsoft.com/office/drawing/2014/main" id="{C2729E69-2DF2-DC9A-B4B3-2AC7E86BEFEE}"/>
              </a:ext>
            </a:extLst>
          </p:cNvPr>
          <p:cNvSpPr>
            <a:spLocks noGrp="1"/>
          </p:cNvSpPr>
          <p:nvPr>
            <p:ph idx="1"/>
          </p:nvPr>
        </p:nvSpPr>
        <p:spPr>
          <a:xfrm>
            <a:off x="2621395" y="1121666"/>
            <a:ext cx="2641828" cy="1446832"/>
          </a:xfrm>
        </p:spPr>
        <p:txBody>
          <a:bodyPr vert="horz" lIns="91440" tIns="45720" rIns="91440" bIns="45720" rtlCol="0" anchor="t">
            <a:normAutofit fontScale="92500" lnSpcReduction="20000"/>
          </a:bodyPr>
          <a:lstStyle/>
          <a:p>
            <a:pPr>
              <a:buFont typeface="Calibri"/>
              <a:buChar char="-"/>
            </a:pPr>
            <a:r>
              <a:rPr lang="en-US" sz="1600" b="1" u="sng">
                <a:cs typeface="Arial"/>
              </a:rPr>
              <a:t>Stability maintained</a:t>
            </a:r>
            <a:r>
              <a:rPr lang="en-US" sz="1600">
                <a:cs typeface="Arial"/>
              </a:rPr>
              <a:t> when</a:t>
            </a:r>
          </a:p>
          <a:p>
            <a:pPr lvl="1">
              <a:buFont typeface="Courier New"/>
              <a:buChar char="o"/>
            </a:pPr>
            <a:r>
              <a:rPr lang="en-US" sz="1200">
                <a:cs typeface="Arial"/>
              </a:rPr>
              <a:t>Padding rows with 0s</a:t>
            </a:r>
          </a:p>
          <a:p>
            <a:pPr lvl="1">
              <a:buFont typeface="Courier New"/>
              <a:buChar char="o"/>
            </a:pPr>
            <a:r>
              <a:rPr lang="en-US" sz="1200">
                <a:cs typeface="Arial"/>
              </a:rPr>
              <a:t>Padding blocks of elements below the main diagonal with 0s </a:t>
            </a:r>
          </a:p>
          <a:p>
            <a:pPr lvl="1">
              <a:buFont typeface="Courier New"/>
              <a:buChar char="o"/>
            </a:pPr>
            <a:r>
              <a:rPr lang="en-US" sz="1200">
                <a:cs typeface="Arial"/>
              </a:rPr>
              <a:t>Padding all elements besides diagonal</a:t>
            </a:r>
          </a:p>
          <a:p>
            <a:pPr>
              <a:buFont typeface="Calibri"/>
              <a:buChar char="-"/>
            </a:pPr>
            <a:endParaRPr lang="en-US" sz="1600">
              <a:cs typeface="Arial"/>
            </a:endParaRPr>
          </a:p>
          <a:p>
            <a:pPr lvl="1">
              <a:buFont typeface="Courier New"/>
              <a:buChar char="o"/>
            </a:pPr>
            <a:endParaRPr lang="en-US" sz="1200">
              <a:cs typeface="Arial"/>
            </a:endParaRPr>
          </a:p>
          <a:p>
            <a:pPr lvl="1">
              <a:buFont typeface="Courier New"/>
              <a:buChar char="o"/>
            </a:pPr>
            <a:endParaRPr lang="en-US" sz="1200">
              <a:cs typeface="Arial"/>
            </a:endParaRPr>
          </a:p>
          <a:p>
            <a:pPr lvl="1">
              <a:buFont typeface="Courier New"/>
              <a:buChar char="o"/>
            </a:pPr>
            <a:endParaRPr lang="en-US" sz="1200">
              <a:cs typeface="Arial"/>
            </a:endParaRPr>
          </a:p>
          <a:p>
            <a:pPr>
              <a:buFont typeface="Calibri"/>
              <a:buChar char="-"/>
            </a:pPr>
            <a:endParaRPr lang="en-US" sz="1600">
              <a:cs typeface="Arial"/>
            </a:endParaRPr>
          </a:p>
        </p:txBody>
      </p:sp>
      <p:pic>
        <p:nvPicPr>
          <p:cNvPr id="3" name="Picture 2" descr="A graph with blue dots&#10;&#10;AI-generated content may be incorrect.">
            <a:extLst>
              <a:ext uri="{FF2B5EF4-FFF2-40B4-BE49-F238E27FC236}">
                <a16:creationId xmlns:a16="http://schemas.microsoft.com/office/drawing/2014/main" id="{99C908BD-E9DC-FAEB-DC1D-953A928CAE44}"/>
              </a:ext>
            </a:extLst>
          </p:cNvPr>
          <p:cNvPicPr>
            <a:picLocks noChangeAspect="1"/>
          </p:cNvPicPr>
          <p:nvPr/>
        </p:nvPicPr>
        <p:blipFill>
          <a:blip r:embed="rId3"/>
          <a:stretch>
            <a:fillRect/>
          </a:stretch>
        </p:blipFill>
        <p:spPr>
          <a:xfrm>
            <a:off x="-1099" y="3637390"/>
            <a:ext cx="1546762" cy="1513343"/>
          </a:xfrm>
          <a:prstGeom prst="rect">
            <a:avLst/>
          </a:prstGeom>
        </p:spPr>
      </p:pic>
      <p:pic>
        <p:nvPicPr>
          <p:cNvPr id="9" name="Picture 8" descr="A graph with blue dots&#10;&#10;AI-generated content may be incorrect.">
            <a:extLst>
              <a:ext uri="{FF2B5EF4-FFF2-40B4-BE49-F238E27FC236}">
                <a16:creationId xmlns:a16="http://schemas.microsoft.com/office/drawing/2014/main" id="{9C685CB1-6EE4-EC1D-A552-DDC95A2CFC34}"/>
              </a:ext>
            </a:extLst>
          </p:cNvPr>
          <p:cNvPicPr>
            <a:picLocks noChangeAspect="1"/>
          </p:cNvPicPr>
          <p:nvPr/>
        </p:nvPicPr>
        <p:blipFill>
          <a:blip r:embed="rId4"/>
          <a:stretch>
            <a:fillRect/>
          </a:stretch>
        </p:blipFill>
        <p:spPr>
          <a:xfrm>
            <a:off x="1502604" y="3632598"/>
            <a:ext cx="1559309" cy="1518420"/>
          </a:xfrm>
          <a:prstGeom prst="rect">
            <a:avLst/>
          </a:prstGeom>
        </p:spPr>
      </p:pic>
      <p:pic>
        <p:nvPicPr>
          <p:cNvPr id="6" name="Content Placeholder 2" descr="A math equations on a white background&#10;&#10;AI-generated content may be incorrect.">
            <a:extLst>
              <a:ext uri="{FF2B5EF4-FFF2-40B4-BE49-F238E27FC236}">
                <a16:creationId xmlns:a16="http://schemas.microsoft.com/office/drawing/2014/main" id="{ADE80694-2BC5-65BB-B34D-2DB0B962E9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0628" y="2871390"/>
            <a:ext cx="2619631" cy="692958"/>
          </a:xfrm>
          <a:prstGeom prst="rect">
            <a:avLst/>
          </a:prstGeom>
        </p:spPr>
      </p:pic>
      <p:pic>
        <p:nvPicPr>
          <p:cNvPr id="10" name="Picture 9" descr="A number of numbers on a white background&#10;&#10;AI-generated content may be incorrect.">
            <a:extLst>
              <a:ext uri="{FF2B5EF4-FFF2-40B4-BE49-F238E27FC236}">
                <a16:creationId xmlns:a16="http://schemas.microsoft.com/office/drawing/2014/main" id="{1AC40C72-5572-B2D4-088A-87F0E42774ED}"/>
              </a:ext>
            </a:extLst>
          </p:cNvPr>
          <p:cNvPicPr>
            <a:picLocks noChangeAspect="1"/>
          </p:cNvPicPr>
          <p:nvPr/>
        </p:nvPicPr>
        <p:blipFill>
          <a:blip r:embed="rId6"/>
          <a:stretch>
            <a:fillRect/>
          </a:stretch>
        </p:blipFill>
        <p:spPr>
          <a:xfrm>
            <a:off x="6587423" y="1757567"/>
            <a:ext cx="2597450" cy="1110909"/>
          </a:xfrm>
          <a:prstGeom prst="rect">
            <a:avLst/>
          </a:prstGeom>
        </p:spPr>
      </p:pic>
      <p:pic>
        <p:nvPicPr>
          <p:cNvPr id="14" name="Picture 13" descr="A graph with blue dots&#10;&#10;AI-generated content may be incorrect.">
            <a:extLst>
              <a:ext uri="{FF2B5EF4-FFF2-40B4-BE49-F238E27FC236}">
                <a16:creationId xmlns:a16="http://schemas.microsoft.com/office/drawing/2014/main" id="{ACD31893-C6D1-B09B-FD89-B9CD7F92404C}"/>
              </a:ext>
            </a:extLst>
          </p:cNvPr>
          <p:cNvPicPr>
            <a:picLocks noChangeAspect="1"/>
          </p:cNvPicPr>
          <p:nvPr/>
        </p:nvPicPr>
        <p:blipFill>
          <a:blip r:embed="rId7"/>
          <a:stretch>
            <a:fillRect/>
          </a:stretch>
        </p:blipFill>
        <p:spPr>
          <a:xfrm>
            <a:off x="3067857" y="3642617"/>
            <a:ext cx="1526665" cy="1504792"/>
          </a:xfrm>
          <a:prstGeom prst="rect">
            <a:avLst/>
          </a:prstGeom>
        </p:spPr>
      </p:pic>
      <p:pic>
        <p:nvPicPr>
          <p:cNvPr id="15" name="Picture 14" descr="A graph with blue dots&#10;&#10;AI-generated content may be incorrect.">
            <a:extLst>
              <a:ext uri="{FF2B5EF4-FFF2-40B4-BE49-F238E27FC236}">
                <a16:creationId xmlns:a16="http://schemas.microsoft.com/office/drawing/2014/main" id="{084E907C-A7BA-111F-C0C2-6273E32ABA3A}"/>
              </a:ext>
            </a:extLst>
          </p:cNvPr>
          <p:cNvPicPr>
            <a:picLocks noChangeAspect="1"/>
          </p:cNvPicPr>
          <p:nvPr/>
        </p:nvPicPr>
        <p:blipFill>
          <a:blip r:embed="rId8"/>
          <a:stretch>
            <a:fillRect/>
          </a:stretch>
        </p:blipFill>
        <p:spPr>
          <a:xfrm>
            <a:off x="4579948" y="3652500"/>
            <a:ext cx="1560985" cy="1491960"/>
          </a:xfrm>
          <a:prstGeom prst="rect">
            <a:avLst/>
          </a:prstGeom>
        </p:spPr>
      </p:pic>
      <p:pic>
        <p:nvPicPr>
          <p:cNvPr id="7" name="Picture 6" descr="A diagram with blue dots&#10;&#10;AI-generated content may be incorrect.">
            <a:extLst>
              <a:ext uri="{FF2B5EF4-FFF2-40B4-BE49-F238E27FC236}">
                <a16:creationId xmlns:a16="http://schemas.microsoft.com/office/drawing/2014/main" id="{522E2361-0116-D2D4-3A9A-6DCE6C2C7148}"/>
              </a:ext>
            </a:extLst>
          </p:cNvPr>
          <p:cNvPicPr>
            <a:picLocks noChangeAspect="1"/>
          </p:cNvPicPr>
          <p:nvPr/>
        </p:nvPicPr>
        <p:blipFill>
          <a:blip r:embed="rId9"/>
          <a:stretch>
            <a:fillRect/>
          </a:stretch>
        </p:blipFill>
        <p:spPr>
          <a:xfrm>
            <a:off x="6121487" y="3655898"/>
            <a:ext cx="1513797" cy="1481230"/>
          </a:xfrm>
          <a:prstGeom prst="rect">
            <a:avLst/>
          </a:prstGeom>
        </p:spPr>
      </p:pic>
      <p:sp>
        <p:nvSpPr>
          <p:cNvPr id="16" name="Content Placeholder 4">
            <a:extLst>
              <a:ext uri="{FF2B5EF4-FFF2-40B4-BE49-F238E27FC236}">
                <a16:creationId xmlns:a16="http://schemas.microsoft.com/office/drawing/2014/main" id="{87F72763-B220-6D31-842C-D11E8AF217F2}"/>
              </a:ext>
            </a:extLst>
          </p:cNvPr>
          <p:cNvSpPr txBox="1">
            <a:spLocks/>
          </p:cNvSpPr>
          <p:nvPr/>
        </p:nvSpPr>
        <p:spPr>
          <a:xfrm>
            <a:off x="-725" y="314569"/>
            <a:ext cx="3251047" cy="3251516"/>
          </a:xfrm>
          <a:prstGeom prst="rect">
            <a:avLst/>
          </a:prstGeom>
        </p:spPr>
        <p:txBody>
          <a:bodyPr vert="horz" lIns="91440" tIns="45720" rIns="91440" bIns="45720" rtlCol="0" anchor="t">
            <a:noAutofit/>
          </a:bodyPr>
          <a:lstStyle>
            <a:lvl1pPr marL="342900" indent="-342900" algn="l" defTabSz="457200" rtl="0" eaLnBrk="1" latinLnBrk="0" hangingPunct="1">
              <a:spcBef>
                <a:spcPct val="20000"/>
              </a:spcBef>
              <a:buFont typeface="Arial"/>
              <a:buChar char="•"/>
              <a:defRPr sz="3200" kern="1200">
                <a:solidFill>
                  <a:schemeClr val="bg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buFont typeface="Calibri"/>
              <a:buChar char="-"/>
            </a:pPr>
            <a:r>
              <a:rPr lang="en-US" sz="1500">
                <a:cs typeface="Arial"/>
              </a:rPr>
              <a:t>Using orthogonal polynomials as basis functions to store optimal coefficients ---&gt; </a:t>
            </a:r>
            <a:r>
              <a:rPr lang="en-US" sz="1500" b="1">
                <a:cs typeface="Arial"/>
              </a:rPr>
              <a:t>store memory</a:t>
            </a:r>
            <a:r>
              <a:rPr lang="en-US" sz="1500">
                <a:cs typeface="Arial"/>
              </a:rPr>
              <a:t> (online function approximation</a:t>
            </a:r>
          </a:p>
          <a:p>
            <a:pPr>
              <a:spcAft>
                <a:spcPts val="0"/>
              </a:spcAft>
              <a:buFont typeface="Calibri"/>
              <a:buChar char="-"/>
            </a:pPr>
            <a:r>
              <a:rPr lang="en-US" sz="1500" b="1" u="sng">
                <a:cs typeface="Arial"/>
              </a:rPr>
              <a:t>High-order Polynomial Projection Operators</a:t>
            </a:r>
            <a:r>
              <a:rPr lang="en-US" sz="1500">
                <a:cs typeface="Arial"/>
              </a:rPr>
              <a:t> attempts to address this</a:t>
            </a:r>
            <a:r>
              <a:rPr lang="en-US" sz="1500" b="1" u="sng">
                <a:cs typeface="Arial"/>
              </a:rPr>
              <a:t> memorization</a:t>
            </a:r>
            <a:r>
              <a:rPr lang="en-US" sz="1500">
                <a:cs typeface="Arial"/>
              </a:rPr>
              <a:t> problem</a:t>
            </a:r>
          </a:p>
          <a:p>
            <a:pPr>
              <a:spcAft>
                <a:spcPts val="0"/>
              </a:spcAft>
              <a:buFont typeface="Calibri"/>
              <a:buChar char="-"/>
            </a:pPr>
            <a:r>
              <a:rPr lang="en-US" sz="1500">
                <a:cs typeface="Arial"/>
              </a:rPr>
              <a:t>Literature: "improved performance on sequential MNIST from 60% to 98%"</a:t>
            </a:r>
          </a:p>
          <a:p>
            <a:pPr>
              <a:spcAft>
                <a:spcPts val="0"/>
              </a:spcAft>
              <a:buFont typeface="Calibri"/>
              <a:buChar char="-"/>
            </a:pPr>
            <a:r>
              <a:rPr lang="en-US" sz="1500">
                <a:cs typeface="Arial"/>
              </a:rPr>
              <a:t>Dynamics and control theory</a:t>
            </a:r>
          </a:p>
        </p:txBody>
      </p:sp>
      <p:pic>
        <p:nvPicPr>
          <p:cNvPr id="20" name="Picture 19" descr="A graph with blue dots&#10;&#10;AI-generated content may be incorrect.">
            <a:extLst>
              <a:ext uri="{FF2B5EF4-FFF2-40B4-BE49-F238E27FC236}">
                <a16:creationId xmlns:a16="http://schemas.microsoft.com/office/drawing/2014/main" id="{2972370E-0C78-F066-80F5-58B734F8F39D}"/>
              </a:ext>
            </a:extLst>
          </p:cNvPr>
          <p:cNvPicPr>
            <a:picLocks noChangeAspect="1"/>
          </p:cNvPicPr>
          <p:nvPr/>
        </p:nvPicPr>
        <p:blipFill>
          <a:blip r:embed="rId10"/>
          <a:stretch>
            <a:fillRect/>
          </a:stretch>
        </p:blipFill>
        <p:spPr>
          <a:xfrm>
            <a:off x="7614044" y="3596508"/>
            <a:ext cx="1572043" cy="1556845"/>
          </a:xfrm>
          <a:prstGeom prst="rect">
            <a:avLst/>
          </a:prstGeom>
        </p:spPr>
      </p:pic>
      <p:sp>
        <p:nvSpPr>
          <p:cNvPr id="21" name="TextBox 20">
            <a:extLst>
              <a:ext uri="{FF2B5EF4-FFF2-40B4-BE49-F238E27FC236}">
                <a16:creationId xmlns:a16="http://schemas.microsoft.com/office/drawing/2014/main" id="{3A908498-D1CA-D8EA-1A66-4992A44913DC}"/>
              </a:ext>
            </a:extLst>
          </p:cNvPr>
          <p:cNvSpPr txBox="1"/>
          <p:nvPr/>
        </p:nvSpPr>
        <p:spPr>
          <a:xfrm>
            <a:off x="2522481" y="2660430"/>
            <a:ext cx="4355222" cy="9664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spcAft>
                <a:spcPts val="0"/>
              </a:spcAft>
            </a:pPr>
            <a:r>
              <a:rPr lang="en-US" sz="1600">
                <a:solidFill>
                  <a:srgbClr val="FFFFFF"/>
                </a:solidFill>
                <a:latin typeface="Arial"/>
                <a:cs typeface="Arial"/>
              </a:rPr>
              <a:t>    - As more Diagonal elements are padded:</a:t>
            </a:r>
            <a:endParaRPr lang="en-US" sz="1600">
              <a:latin typeface="Arial"/>
              <a:cs typeface="Arial"/>
            </a:endParaRPr>
          </a:p>
          <a:p>
            <a:pPr marL="742950" lvl="1" indent="-285750">
              <a:spcBef>
                <a:spcPct val="20000"/>
              </a:spcBef>
              <a:spcAft>
                <a:spcPts val="0"/>
              </a:spcAft>
              <a:buFont typeface="Courier New,monospace"/>
              <a:buChar char="o"/>
            </a:pPr>
            <a:r>
              <a:rPr lang="en-US" sz="1200">
                <a:solidFill>
                  <a:srgbClr val="FFFFFF"/>
                </a:solidFill>
                <a:latin typeface="Arial"/>
                <a:cs typeface="Arial"/>
              </a:rPr>
              <a:t>Instability is seen and more instances of increasing losses</a:t>
            </a:r>
          </a:p>
          <a:p>
            <a:pPr marL="742950" lvl="1" indent="-285750">
              <a:spcBef>
                <a:spcPct val="20000"/>
              </a:spcBef>
              <a:spcAft>
                <a:spcPts val="0"/>
              </a:spcAft>
              <a:buFont typeface="Courier New,monospace"/>
              <a:buChar char="o"/>
            </a:pPr>
            <a:r>
              <a:rPr lang="en-US" sz="1200">
                <a:solidFill>
                  <a:srgbClr val="FFFFFF"/>
                </a:solidFill>
                <a:latin typeface="Arial"/>
                <a:cs typeface="Arial"/>
              </a:rPr>
              <a:t>But not always...</a:t>
            </a:r>
          </a:p>
        </p:txBody>
      </p:sp>
      <p:pic>
        <p:nvPicPr>
          <p:cNvPr id="22" name="Picture 21" descr="A graph with blue dots&#10;&#10;AI-generated content may be incorrect.">
            <a:extLst>
              <a:ext uri="{FF2B5EF4-FFF2-40B4-BE49-F238E27FC236}">
                <a16:creationId xmlns:a16="http://schemas.microsoft.com/office/drawing/2014/main" id="{A4F0B2F0-DAFD-2202-F4A6-ABC77D3D5D0C}"/>
              </a:ext>
            </a:extLst>
          </p:cNvPr>
          <p:cNvPicPr>
            <a:picLocks noChangeAspect="1"/>
          </p:cNvPicPr>
          <p:nvPr/>
        </p:nvPicPr>
        <p:blipFill>
          <a:blip r:embed="rId11"/>
          <a:stretch>
            <a:fillRect/>
          </a:stretch>
        </p:blipFill>
        <p:spPr>
          <a:xfrm>
            <a:off x="5199949" y="1290801"/>
            <a:ext cx="1315853" cy="1409043"/>
          </a:xfrm>
          <a:prstGeom prst="rect">
            <a:avLst/>
          </a:prstGeom>
        </p:spPr>
      </p:pic>
      <p:pic>
        <p:nvPicPr>
          <p:cNvPr id="2" name="Picture 1" descr="A graph with blue dots&#10;&#10;AI-generated content may be incorrect.">
            <a:extLst>
              <a:ext uri="{FF2B5EF4-FFF2-40B4-BE49-F238E27FC236}">
                <a16:creationId xmlns:a16="http://schemas.microsoft.com/office/drawing/2014/main" id="{CED1ECFC-1E6B-072E-9BCA-ED5C36121F80}"/>
              </a:ext>
            </a:extLst>
          </p:cNvPr>
          <p:cNvPicPr>
            <a:picLocks noChangeAspect="1"/>
          </p:cNvPicPr>
          <p:nvPr/>
        </p:nvPicPr>
        <p:blipFill>
          <a:blip r:embed="rId12"/>
          <a:stretch>
            <a:fillRect/>
          </a:stretch>
        </p:blipFill>
        <p:spPr>
          <a:xfrm>
            <a:off x="6581594" y="658302"/>
            <a:ext cx="1318405" cy="1120358"/>
          </a:xfrm>
          <a:prstGeom prst="rect">
            <a:avLst/>
          </a:prstGeom>
        </p:spPr>
      </p:pic>
      <p:pic>
        <p:nvPicPr>
          <p:cNvPr id="8" name="Picture 7" descr="A graph with dots on it&#10;&#10;AI-generated content may be incorrect.">
            <a:extLst>
              <a:ext uri="{FF2B5EF4-FFF2-40B4-BE49-F238E27FC236}">
                <a16:creationId xmlns:a16="http://schemas.microsoft.com/office/drawing/2014/main" id="{14CF0456-09E2-BCFD-585C-C8561BDE4815}"/>
              </a:ext>
            </a:extLst>
          </p:cNvPr>
          <p:cNvPicPr>
            <a:picLocks noChangeAspect="1"/>
          </p:cNvPicPr>
          <p:nvPr/>
        </p:nvPicPr>
        <p:blipFill>
          <a:blip r:embed="rId13"/>
          <a:stretch>
            <a:fillRect/>
          </a:stretch>
        </p:blipFill>
        <p:spPr>
          <a:xfrm>
            <a:off x="7891426" y="657764"/>
            <a:ext cx="1232753" cy="1099869"/>
          </a:xfrm>
          <a:prstGeom prst="rect">
            <a:avLst/>
          </a:prstGeom>
        </p:spPr>
      </p:pic>
      <p:sp>
        <p:nvSpPr>
          <p:cNvPr id="12" name="Content Placeholder 4">
            <a:extLst>
              <a:ext uri="{FF2B5EF4-FFF2-40B4-BE49-F238E27FC236}">
                <a16:creationId xmlns:a16="http://schemas.microsoft.com/office/drawing/2014/main" id="{00DC6B6E-CC7A-31B9-D278-231F4AD89AB0}"/>
              </a:ext>
            </a:extLst>
          </p:cNvPr>
          <p:cNvSpPr txBox="1">
            <a:spLocks/>
          </p:cNvSpPr>
          <p:nvPr/>
        </p:nvSpPr>
        <p:spPr>
          <a:xfrm>
            <a:off x="6871343" y="454556"/>
            <a:ext cx="2641828" cy="400880"/>
          </a:xfrm>
          <a:prstGeom prst="rect">
            <a:avLst/>
          </a:prstGeom>
        </p:spPr>
        <p:txBody>
          <a:bodyPr vert="horz" lIns="91440" tIns="45720" rIns="91440" bIns="45720" rtlCol="0" anchor="t">
            <a:normAutofit fontScale="77500" lnSpcReduction="20000"/>
          </a:bodyPr>
          <a:lstStyle>
            <a:lvl1pPr marL="342900" indent="-342900" algn="l" defTabSz="457200" rtl="0" eaLnBrk="1" latinLnBrk="0" hangingPunct="1">
              <a:spcBef>
                <a:spcPct val="20000"/>
              </a:spcBef>
              <a:buFont typeface="Arial"/>
              <a:buChar char="•"/>
              <a:defRPr sz="3200" kern="1200">
                <a:solidFill>
                  <a:schemeClr val="bg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spcAft>
                <a:spcPts val="0"/>
              </a:spcAft>
              <a:buNone/>
            </a:pPr>
            <a:r>
              <a:rPr lang="en-US" sz="1600">
                <a:cs typeface="Arial"/>
              </a:rPr>
              <a:t>HIPPO (0.94) vs Random (0.96)</a:t>
            </a:r>
            <a:endParaRPr lang="en-US"/>
          </a:p>
        </p:txBody>
      </p:sp>
    </p:spTree>
    <p:extLst>
      <p:ext uri="{BB962C8B-B14F-4D97-AF65-F5344CB8AC3E}">
        <p14:creationId xmlns:p14="http://schemas.microsoft.com/office/powerpoint/2010/main" val="367503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2B2A-71D1-865D-65E2-BF3A31E7EEAF}"/>
              </a:ext>
            </a:extLst>
          </p:cNvPr>
          <p:cNvSpPr>
            <a:spLocks noGrp="1"/>
          </p:cNvSpPr>
          <p:nvPr>
            <p:ph type="title"/>
          </p:nvPr>
        </p:nvSpPr>
        <p:spPr/>
        <p:txBody>
          <a:bodyPr>
            <a:normAutofit/>
          </a:bodyPr>
          <a:lstStyle/>
          <a:p>
            <a:r>
              <a:rPr lang="en-US" u="sng">
                <a:cs typeface="Arial"/>
              </a:rPr>
              <a:t>Discretization</a:t>
            </a:r>
            <a:endParaRPr lang="en-US" u="sng"/>
          </a:p>
        </p:txBody>
      </p:sp>
      <p:sp>
        <p:nvSpPr>
          <p:cNvPr id="3" name="Content Placeholder 2">
            <a:extLst>
              <a:ext uri="{FF2B5EF4-FFF2-40B4-BE49-F238E27FC236}">
                <a16:creationId xmlns:a16="http://schemas.microsoft.com/office/drawing/2014/main" id="{0E387A5F-7CC7-161D-94F0-E5AE685AD295}"/>
              </a:ext>
            </a:extLst>
          </p:cNvPr>
          <p:cNvSpPr>
            <a:spLocks noGrp="1"/>
          </p:cNvSpPr>
          <p:nvPr>
            <p:ph idx="1"/>
          </p:nvPr>
        </p:nvSpPr>
        <p:spPr/>
        <p:txBody>
          <a:bodyPr vert="horz" lIns="91440" tIns="45720" rIns="91440" bIns="45720" rtlCol="0" anchor="t">
            <a:normAutofit/>
          </a:bodyPr>
          <a:lstStyle/>
          <a:p>
            <a:r>
              <a:rPr lang="en-US" sz="1600">
                <a:cs typeface="Arial"/>
              </a:rPr>
              <a:t>Converts continuous dynamics into </a:t>
            </a:r>
            <a:r>
              <a:rPr lang="en-US" sz="1600" b="1" u="sng">
                <a:cs typeface="Arial"/>
              </a:rPr>
              <a:t>discrete-time</a:t>
            </a:r>
            <a:r>
              <a:rPr lang="en-US" sz="1600">
                <a:cs typeface="Arial"/>
              </a:rPr>
              <a:t> updates</a:t>
            </a:r>
          </a:p>
          <a:p>
            <a:r>
              <a:rPr lang="en-US" sz="1600">
                <a:cs typeface="Arial"/>
              </a:rPr>
              <a:t>Uses bilinear (Tustin) transform on matrix </a:t>
            </a:r>
            <a:r>
              <a:rPr lang="en-US" sz="1600" b="1" i="1">
                <a:cs typeface="Arial"/>
              </a:rPr>
              <a:t>A</a:t>
            </a:r>
          </a:p>
          <a:p>
            <a:r>
              <a:rPr lang="en-US" sz="1600">
                <a:cs typeface="Arial"/>
              </a:rPr>
              <a:t>Produces a </a:t>
            </a:r>
            <a:r>
              <a:rPr lang="en-US" sz="1600" b="1" u="sng">
                <a:cs typeface="Arial"/>
              </a:rPr>
              <a:t>recurrence relation</a:t>
            </a:r>
            <a:r>
              <a:rPr lang="en-US" sz="1600">
                <a:cs typeface="Arial"/>
              </a:rPr>
              <a:t> for hidden state </a:t>
            </a:r>
            <a:r>
              <a:rPr lang="en-US" sz="1600" i="1" err="1">
                <a:cs typeface="Arial"/>
              </a:rPr>
              <a:t>x</a:t>
            </a:r>
            <a:r>
              <a:rPr lang="en-US" sz="1600" baseline="-25000" err="1">
                <a:cs typeface="Arial"/>
              </a:rPr>
              <a:t>k</a:t>
            </a:r>
            <a:endParaRPr lang="en-US" sz="1600" baseline="-25000">
              <a:cs typeface="Arial"/>
            </a:endParaRPr>
          </a:p>
          <a:p>
            <a:r>
              <a:rPr lang="en-US" sz="1600">
                <a:cs typeface="Arial"/>
              </a:rPr>
              <a:t>Allows SSM to operate like an RNN on sequences</a:t>
            </a:r>
          </a:p>
          <a:p>
            <a:endParaRPr lang="en-US" sz="1600">
              <a:cs typeface="Arial"/>
            </a:endParaRPr>
          </a:p>
        </p:txBody>
      </p:sp>
      <p:pic>
        <p:nvPicPr>
          <p:cNvPr id="5" name="Picture 4">
            <a:extLst>
              <a:ext uri="{FF2B5EF4-FFF2-40B4-BE49-F238E27FC236}">
                <a16:creationId xmlns:a16="http://schemas.microsoft.com/office/drawing/2014/main" id="{549E1B32-6104-4E6C-1B69-41FA9C12EB96}"/>
              </a:ext>
            </a:extLst>
          </p:cNvPr>
          <p:cNvPicPr>
            <a:picLocks noChangeAspect="1"/>
          </p:cNvPicPr>
          <p:nvPr/>
        </p:nvPicPr>
        <p:blipFill>
          <a:blip r:embed="rId3"/>
          <a:srcRect l="30952" t="18750" r="30000" b="23214"/>
          <a:stretch>
            <a:fillRect/>
          </a:stretch>
        </p:blipFill>
        <p:spPr>
          <a:xfrm>
            <a:off x="6111835" y="2097012"/>
            <a:ext cx="2439697" cy="1055002"/>
          </a:xfrm>
          <a:prstGeom prst="rect">
            <a:avLst/>
          </a:prstGeom>
        </p:spPr>
      </p:pic>
      <p:pic>
        <p:nvPicPr>
          <p:cNvPr id="4" name="Picture 3">
            <a:extLst>
              <a:ext uri="{FF2B5EF4-FFF2-40B4-BE49-F238E27FC236}">
                <a16:creationId xmlns:a16="http://schemas.microsoft.com/office/drawing/2014/main" id="{7674B326-4079-23EC-6CB7-44EEA245E7D8}"/>
              </a:ext>
            </a:extLst>
          </p:cNvPr>
          <p:cNvPicPr>
            <a:picLocks noChangeAspect="1"/>
          </p:cNvPicPr>
          <p:nvPr/>
        </p:nvPicPr>
        <p:blipFill>
          <a:blip r:embed="rId4"/>
          <a:stretch>
            <a:fillRect/>
          </a:stretch>
        </p:blipFill>
        <p:spPr>
          <a:xfrm>
            <a:off x="1098597" y="3422640"/>
            <a:ext cx="6949933" cy="1091713"/>
          </a:xfrm>
          <a:prstGeom prst="rect">
            <a:avLst/>
          </a:prstGeom>
        </p:spPr>
      </p:pic>
    </p:spTree>
    <p:extLst>
      <p:ext uri="{BB962C8B-B14F-4D97-AF65-F5344CB8AC3E}">
        <p14:creationId xmlns:p14="http://schemas.microsoft.com/office/powerpoint/2010/main" val="2794186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783C-FE8A-C175-7F14-3636119A521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699A795-803D-CEE3-B191-EEB60AD7AD70}"/>
              </a:ext>
            </a:extLst>
          </p:cNvPr>
          <p:cNvSpPr>
            <a:spLocks noGrp="1"/>
          </p:cNvSpPr>
          <p:nvPr>
            <p:ph type="title"/>
          </p:nvPr>
        </p:nvSpPr>
        <p:spPr>
          <a:xfrm>
            <a:off x="68461" y="356451"/>
            <a:ext cx="8229600" cy="857250"/>
          </a:xfrm>
        </p:spPr>
        <p:txBody>
          <a:bodyPr>
            <a:normAutofit/>
          </a:bodyPr>
          <a:lstStyle/>
          <a:p>
            <a:r>
              <a:rPr lang="en-US" b="1" u="sng">
                <a:cs typeface="Arial"/>
              </a:rPr>
              <a:t>Why S4 &gt; RNN</a:t>
            </a:r>
          </a:p>
        </p:txBody>
      </p:sp>
      <p:pic>
        <p:nvPicPr>
          <p:cNvPr id="3" name="Content Placeholder 2" descr="A white paper with black text&#10;&#10;AI-generated content may be incorrect.">
            <a:extLst>
              <a:ext uri="{FF2B5EF4-FFF2-40B4-BE49-F238E27FC236}">
                <a16:creationId xmlns:a16="http://schemas.microsoft.com/office/drawing/2014/main" id="{025B65D7-4057-39B6-0AB6-97423528911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34" r="12989" b="1"/>
          <a:stretch>
            <a:fillRect/>
          </a:stretch>
        </p:blipFill>
        <p:spPr>
          <a:xfrm>
            <a:off x="509637" y="2758761"/>
            <a:ext cx="7712144" cy="2380876"/>
          </a:xfrm>
          <a:noFill/>
        </p:spPr>
      </p:pic>
      <p:sp>
        <p:nvSpPr>
          <p:cNvPr id="2" name="TextBox 1">
            <a:extLst>
              <a:ext uri="{FF2B5EF4-FFF2-40B4-BE49-F238E27FC236}">
                <a16:creationId xmlns:a16="http://schemas.microsoft.com/office/drawing/2014/main" id="{32C4CD2F-FDC1-3D9E-D95B-A2CBFCE057C1}"/>
              </a:ext>
            </a:extLst>
          </p:cNvPr>
          <p:cNvSpPr txBox="1"/>
          <p:nvPr/>
        </p:nvSpPr>
        <p:spPr>
          <a:xfrm>
            <a:off x="424016" y="1216742"/>
            <a:ext cx="7871951" cy="1872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1950"/>
              </a:lnSpc>
              <a:buFont typeface=""/>
              <a:buChar char="•"/>
            </a:pPr>
            <a:r>
              <a:rPr lang="en-US" sz="1600">
                <a:solidFill>
                  <a:srgbClr val="FFFFFF"/>
                </a:solidFill>
                <a:latin typeface="Arial"/>
                <a:ea typeface="Arial"/>
                <a:cs typeface="Arial"/>
              </a:rPr>
              <a:t>S4 has </a:t>
            </a:r>
            <a:r>
              <a:rPr lang="en-US" sz="1600" b="1" u="sng">
                <a:solidFill>
                  <a:srgbClr val="FFFFFF"/>
                </a:solidFill>
                <a:latin typeface="Arial"/>
                <a:ea typeface="Arial"/>
                <a:cs typeface="Arial"/>
              </a:rPr>
              <a:t>no non-linear gates</a:t>
            </a:r>
          </a:p>
          <a:p>
            <a:pPr marL="228600" indent="-228600">
              <a:lnSpc>
                <a:spcPts val="1950"/>
              </a:lnSpc>
              <a:buFont typeface=""/>
              <a:buChar char="•"/>
            </a:pPr>
            <a:r>
              <a:rPr lang="en-US" sz="1600">
                <a:solidFill>
                  <a:srgbClr val="FFFFFF"/>
                </a:solidFill>
                <a:latin typeface="Arial"/>
                <a:ea typeface="Arial"/>
                <a:cs typeface="Arial"/>
              </a:rPr>
              <a:t>Allows us to define some </a:t>
            </a:r>
            <a:r>
              <a:rPr lang="en-US" sz="1600" b="1" u="sng">
                <a:solidFill>
                  <a:srgbClr val="FFFFFF"/>
                </a:solidFill>
                <a:latin typeface="Arial"/>
                <a:ea typeface="Arial"/>
                <a:cs typeface="Arial"/>
              </a:rPr>
              <a:t>Kernel function </a:t>
            </a:r>
            <a:r>
              <a:rPr lang="en-US" sz="1600" b="1" i="1" u="sng">
                <a:solidFill>
                  <a:srgbClr val="FFFFFF"/>
                </a:solidFill>
                <a:latin typeface="Arial"/>
                <a:ea typeface="Arial"/>
                <a:cs typeface="Arial"/>
              </a:rPr>
              <a:t>K</a:t>
            </a:r>
            <a:r>
              <a:rPr lang="en-US" sz="1600">
                <a:solidFill>
                  <a:srgbClr val="FFFFFF"/>
                </a:solidFill>
                <a:latin typeface="Arial"/>
                <a:ea typeface="Arial"/>
                <a:cs typeface="Arial"/>
              </a:rPr>
              <a:t>, such that </a:t>
            </a:r>
            <a:r>
              <a:rPr lang="en-US" sz="1600" i="1">
                <a:solidFill>
                  <a:srgbClr val="FFFFFF"/>
                </a:solidFill>
                <a:latin typeface="Arial"/>
                <a:ea typeface="Arial"/>
                <a:cs typeface="Arial"/>
              </a:rPr>
              <a:t>y = K * u</a:t>
            </a:r>
          </a:p>
          <a:p>
            <a:pPr marL="228600" lvl="0" indent="-228600" algn="l">
              <a:lnSpc>
                <a:spcPts val="1950"/>
              </a:lnSpc>
              <a:buFont typeface=""/>
              <a:buChar char="•"/>
            </a:pPr>
            <a:r>
              <a:rPr lang="en-US" sz="1600" b="1" i="0" u="sng" strike="noStrike" baseline="0">
                <a:solidFill>
                  <a:srgbClr val="FFFFFF"/>
                </a:solidFill>
                <a:latin typeface="Arial"/>
                <a:ea typeface="Arial"/>
                <a:cs typeface="Arial"/>
              </a:rPr>
              <a:t>Efficient</a:t>
            </a:r>
            <a:r>
              <a:rPr lang="en-US" sz="1600" b="0" i="0" u="none" strike="noStrike" baseline="0">
                <a:solidFill>
                  <a:srgbClr val="FFFFFF"/>
                </a:solidFill>
                <a:latin typeface="Arial"/>
                <a:ea typeface="Arial"/>
                <a:cs typeface="Arial"/>
              </a:rPr>
              <a:t>: reduces the long sequence bottleneck in traditional RNNs via convolution kernel</a:t>
            </a:r>
            <a:r>
              <a:rPr lang="en-US" sz="1600" b="0" i="0">
                <a:solidFill>
                  <a:srgbClr val="BE5700"/>
                </a:solidFill>
                <a:latin typeface="Arial"/>
                <a:ea typeface="Arial"/>
                <a:cs typeface="Arial"/>
              </a:rPr>
              <a:t>​</a:t>
            </a:r>
            <a:endParaRPr lang="en-US"/>
          </a:p>
          <a:p>
            <a:pPr marL="628650" lvl="2" indent="-171450">
              <a:lnSpc>
                <a:spcPts val="1500"/>
              </a:lnSpc>
              <a:buFont typeface="Calibri"/>
              <a:buChar char="-"/>
            </a:pPr>
            <a:r>
              <a:rPr lang="en-US" sz="1200" b="0" i="0" u="none" strike="noStrike" baseline="0">
                <a:solidFill>
                  <a:srgbClr val="FFFFFF"/>
                </a:solidFill>
                <a:latin typeface="Arial"/>
                <a:ea typeface="Arial"/>
                <a:cs typeface="Arial"/>
              </a:rPr>
              <a:t>Prevents Gradient Blow-up</a:t>
            </a:r>
            <a:r>
              <a:rPr lang="en-US" sz="1200" b="0" i="0">
                <a:solidFill>
                  <a:srgbClr val="BE5700"/>
                </a:solidFill>
                <a:latin typeface="Arial"/>
                <a:ea typeface="Arial"/>
                <a:cs typeface="Arial"/>
              </a:rPr>
              <a:t>​</a:t>
            </a:r>
            <a:r>
              <a:rPr lang="en-US" sz="1200" b="1">
                <a:solidFill>
                  <a:schemeClr val="bg1"/>
                </a:solidFill>
                <a:latin typeface="Arial"/>
                <a:ea typeface="Arial"/>
                <a:cs typeface="Arial"/>
              </a:rPr>
              <a:t> (no repeated calls to A)</a:t>
            </a:r>
            <a:endParaRPr lang="en-US" sz="1200" b="1" i="0">
              <a:solidFill>
                <a:schemeClr val="bg1"/>
              </a:solidFill>
              <a:latin typeface="Arial"/>
              <a:ea typeface="Arial"/>
              <a:cs typeface="Arial"/>
            </a:endParaRPr>
          </a:p>
          <a:p>
            <a:pPr marL="685800" lvl="2" indent="-228600" algn="l" rtl="0">
              <a:lnSpc>
                <a:spcPts val="1500"/>
              </a:lnSpc>
              <a:buFont typeface="Calibri"/>
              <a:buChar char="-"/>
            </a:pPr>
            <a:r>
              <a:rPr lang="en-US" sz="1200" b="0" i="0" u="none" strike="noStrike" baseline="0">
                <a:solidFill>
                  <a:srgbClr val="FFFFFF"/>
                </a:solidFill>
                <a:latin typeface="Arial"/>
                <a:ea typeface="Arial"/>
                <a:cs typeface="Arial"/>
              </a:rPr>
              <a:t>Enables fast memory-efficient modelling of long-range </a:t>
            </a:r>
            <a:r>
              <a:rPr lang="en-US" sz="1200">
                <a:solidFill>
                  <a:srgbClr val="FFFFFF"/>
                </a:solidFill>
                <a:latin typeface="Arial"/>
                <a:ea typeface="Arial"/>
                <a:cs typeface="Arial"/>
              </a:rPr>
              <a:t>dependencies</a:t>
            </a:r>
            <a:endParaRPr lang="en-US" sz="1200">
              <a:solidFill>
                <a:srgbClr val="FFFFFF"/>
              </a:solidFill>
              <a:latin typeface="ヒラギノ角ゴ Pro W3"/>
            </a:endParaRPr>
          </a:p>
          <a:p>
            <a:pPr algn="ctr"/>
            <a:endParaRPr lang="en-US">
              <a:solidFill>
                <a:srgbClr val="BE5700"/>
              </a:solidFill>
            </a:endParaRPr>
          </a:p>
        </p:txBody>
      </p:sp>
      <p:pic>
        <p:nvPicPr>
          <p:cNvPr id="7" name="Picture 6" descr="A group of black letters&#10;&#10;AI-generated content may be incorrect.">
            <a:extLst>
              <a:ext uri="{FF2B5EF4-FFF2-40B4-BE49-F238E27FC236}">
                <a16:creationId xmlns:a16="http://schemas.microsoft.com/office/drawing/2014/main" id="{8C8ACA8A-C042-C8D2-6B06-1D5BCB7AC738}"/>
              </a:ext>
            </a:extLst>
          </p:cNvPr>
          <p:cNvPicPr>
            <a:picLocks noChangeAspect="1"/>
          </p:cNvPicPr>
          <p:nvPr/>
        </p:nvPicPr>
        <p:blipFill>
          <a:blip r:embed="rId4"/>
          <a:stretch>
            <a:fillRect/>
          </a:stretch>
        </p:blipFill>
        <p:spPr>
          <a:xfrm>
            <a:off x="4050363" y="439174"/>
            <a:ext cx="5602433" cy="851381"/>
          </a:xfrm>
          <a:prstGeom prst="rect">
            <a:avLst/>
          </a:prstGeom>
        </p:spPr>
      </p:pic>
    </p:spTree>
    <p:extLst>
      <p:ext uri="{BB962C8B-B14F-4D97-AF65-F5344CB8AC3E}">
        <p14:creationId xmlns:p14="http://schemas.microsoft.com/office/powerpoint/2010/main" val="416371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0B85C-DF9F-B100-ACDB-1615B9D305E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B91AFC-7535-02C5-1035-997BB41940E8}"/>
              </a:ext>
            </a:extLst>
          </p:cNvPr>
          <p:cNvSpPr>
            <a:spLocks noGrp="1"/>
          </p:cNvSpPr>
          <p:nvPr>
            <p:ph type="title"/>
          </p:nvPr>
        </p:nvSpPr>
        <p:spPr/>
        <p:txBody>
          <a:bodyPr>
            <a:normAutofit/>
          </a:bodyPr>
          <a:lstStyle/>
          <a:p>
            <a:r>
              <a:rPr lang="en-US" sz="3600" b="1" u="sng"/>
              <a:t>Code Structure</a:t>
            </a:r>
            <a:endParaRPr lang="en-US" sz="3600" b="1" u="sng">
              <a:cs typeface="Arial"/>
            </a:endParaRPr>
          </a:p>
        </p:txBody>
      </p:sp>
      <p:sp>
        <p:nvSpPr>
          <p:cNvPr id="5" name="Content Placeholder 4">
            <a:extLst>
              <a:ext uri="{FF2B5EF4-FFF2-40B4-BE49-F238E27FC236}">
                <a16:creationId xmlns:a16="http://schemas.microsoft.com/office/drawing/2014/main" id="{7D88A521-0659-E24B-0DF6-9C0657604243}"/>
              </a:ext>
            </a:extLst>
          </p:cNvPr>
          <p:cNvSpPr>
            <a:spLocks noGrp="1"/>
          </p:cNvSpPr>
          <p:nvPr>
            <p:ph idx="1"/>
          </p:nvPr>
        </p:nvSpPr>
        <p:spPr/>
        <p:txBody>
          <a:bodyPr vert="horz" lIns="91440" tIns="45720" rIns="91440" bIns="45720" rtlCol="0" anchor="t">
            <a:normAutofit/>
          </a:bodyPr>
          <a:lstStyle/>
          <a:p>
            <a:r>
              <a:rPr lang="en-US" sz="1600">
                <a:highlight>
                  <a:srgbClr val="808080"/>
                </a:highlight>
              </a:rPr>
              <a:t>`</a:t>
            </a:r>
            <a:r>
              <a:rPr lang="en-US" sz="1600" err="1">
                <a:highlight>
                  <a:srgbClr val="808080"/>
                </a:highlight>
              </a:rPr>
              <a:t>model.py</a:t>
            </a:r>
            <a:r>
              <a:rPr lang="en-US" sz="1600">
                <a:highlight>
                  <a:srgbClr val="808080"/>
                </a:highlight>
              </a:rPr>
              <a:t>`</a:t>
            </a:r>
            <a:r>
              <a:rPr lang="en-US" sz="1600"/>
              <a:t>: defines SimpleSSM class and training logic</a:t>
            </a:r>
            <a:endParaRPr lang="en-US" sz="1600">
              <a:cs typeface="Arial"/>
            </a:endParaRPr>
          </a:p>
          <a:p>
            <a:r>
              <a:rPr lang="en-US" sz="1600">
                <a:highlight>
                  <a:srgbClr val="808080"/>
                </a:highlight>
              </a:rPr>
              <a:t>`</a:t>
            </a:r>
            <a:r>
              <a:rPr lang="en-US" sz="1600" err="1">
                <a:highlight>
                  <a:srgbClr val="808080"/>
                </a:highlight>
              </a:rPr>
              <a:t>helpers.py</a:t>
            </a:r>
            <a:r>
              <a:rPr lang="en-US" sz="1600">
                <a:highlight>
                  <a:srgbClr val="808080"/>
                </a:highlight>
              </a:rPr>
              <a:t>`</a:t>
            </a:r>
            <a:r>
              <a:rPr lang="en-US" sz="1600"/>
              <a:t>: includes sigmoid activation and loss functions</a:t>
            </a:r>
            <a:endParaRPr lang="en-US" sz="1600">
              <a:cs typeface="Arial"/>
            </a:endParaRPr>
          </a:p>
          <a:p>
            <a:r>
              <a:rPr lang="en-US" sz="1600">
                <a:highlight>
                  <a:srgbClr val="808080"/>
                </a:highlight>
              </a:rPr>
              <a:t>`</a:t>
            </a:r>
            <a:r>
              <a:rPr lang="en-US" sz="1600" err="1">
                <a:highlight>
                  <a:srgbClr val="808080"/>
                </a:highlight>
              </a:rPr>
              <a:t>hippo.py</a:t>
            </a:r>
            <a:r>
              <a:rPr lang="en-US" sz="1600">
                <a:highlight>
                  <a:srgbClr val="808080"/>
                </a:highlight>
              </a:rPr>
              <a:t>`</a:t>
            </a:r>
            <a:r>
              <a:rPr lang="en-US" sz="1600"/>
              <a:t>: constructs HiPPO-LegS matrix and applies bilinear transform</a:t>
            </a:r>
            <a:endParaRPr lang="en-US" sz="1600">
              <a:cs typeface="Arial"/>
            </a:endParaRPr>
          </a:p>
          <a:p>
            <a:r>
              <a:rPr lang="en-US" sz="1600">
                <a:highlight>
                  <a:srgbClr val="808080"/>
                </a:highlight>
                <a:cs typeface="Arial"/>
              </a:rPr>
              <a:t>`</a:t>
            </a:r>
            <a:r>
              <a:rPr lang="en-US" sz="1600" err="1">
                <a:highlight>
                  <a:srgbClr val="808080"/>
                </a:highlight>
                <a:cs typeface="Arial"/>
              </a:rPr>
              <a:t>generator_prevbit.py</a:t>
            </a:r>
            <a:r>
              <a:rPr lang="en-US" sz="1600">
                <a:highlight>
                  <a:srgbClr val="808080"/>
                </a:highlight>
                <a:cs typeface="Arial"/>
              </a:rPr>
              <a:t>`</a:t>
            </a:r>
            <a:r>
              <a:rPr lang="en-US" sz="1600">
                <a:cs typeface="Arial"/>
              </a:rPr>
              <a:t>: generates previous-bit task data</a:t>
            </a:r>
            <a:endParaRPr lang="en-US" sz="1600"/>
          </a:p>
          <a:p>
            <a:r>
              <a:rPr lang="en-US" sz="1600">
                <a:highlight>
                  <a:srgbClr val="808080"/>
                </a:highlight>
              </a:rPr>
              <a:t>`</a:t>
            </a:r>
            <a:r>
              <a:rPr lang="en-US" sz="1600" err="1">
                <a:highlight>
                  <a:srgbClr val="808080"/>
                </a:highlight>
              </a:rPr>
              <a:t>generator_memory.py</a:t>
            </a:r>
            <a:r>
              <a:rPr lang="en-US" sz="1600">
                <a:highlight>
                  <a:srgbClr val="808080"/>
                </a:highlight>
              </a:rPr>
              <a:t>`</a:t>
            </a:r>
            <a:r>
              <a:rPr lang="en-US" sz="1600"/>
              <a:t>: generates memory recall task data</a:t>
            </a:r>
          </a:p>
          <a:p>
            <a:r>
              <a:rPr lang="en-US" sz="1600">
                <a:highlight>
                  <a:srgbClr val="808080"/>
                </a:highlight>
                <a:cs typeface="Arial"/>
              </a:rPr>
              <a:t>`</a:t>
            </a:r>
            <a:r>
              <a:rPr lang="en-US" sz="1600" err="1">
                <a:highlight>
                  <a:srgbClr val="808080"/>
                </a:highlight>
                <a:cs typeface="Arial"/>
              </a:rPr>
              <a:t>demos.ipynb</a:t>
            </a:r>
            <a:r>
              <a:rPr lang="en-US" sz="1600">
                <a:highlight>
                  <a:srgbClr val="808080"/>
                </a:highlight>
                <a:cs typeface="Arial"/>
              </a:rPr>
              <a:t>`</a:t>
            </a:r>
            <a:r>
              <a:rPr lang="en-US" sz="1600">
                <a:cs typeface="Arial"/>
              </a:rPr>
              <a:t>: runs training + testing for both tasks with plots</a:t>
            </a:r>
          </a:p>
          <a:p>
            <a:r>
              <a:rPr lang="en-US" sz="1600">
                <a:highlight>
                  <a:srgbClr val="808080"/>
                </a:highlight>
                <a:cs typeface="Arial"/>
              </a:rPr>
              <a:t>`requirements.txt`</a:t>
            </a:r>
            <a:r>
              <a:rPr lang="en-US" sz="1600">
                <a:cs typeface="Arial"/>
              </a:rPr>
              <a:t>: lists Python dependencies (NumPy, </a:t>
            </a:r>
            <a:r>
              <a:rPr lang="en-US" sz="1600" err="1">
                <a:cs typeface="Arial"/>
              </a:rPr>
              <a:t>Matplotlib</a:t>
            </a:r>
            <a:r>
              <a:rPr lang="en-US" sz="1600">
                <a:cs typeface="Arial"/>
              </a:rPr>
              <a:t>, </a:t>
            </a:r>
            <a:r>
              <a:rPr lang="en-US" sz="1600" err="1">
                <a:cs typeface="Arial"/>
              </a:rPr>
              <a:t>sklearn</a:t>
            </a:r>
            <a:r>
              <a:rPr lang="en-US" sz="1600">
                <a:cs typeface="Arial"/>
              </a:rPr>
              <a:t>, etc.)</a:t>
            </a:r>
          </a:p>
        </p:txBody>
      </p:sp>
    </p:spTree>
    <p:extLst>
      <p:ext uri="{BB962C8B-B14F-4D97-AF65-F5344CB8AC3E}">
        <p14:creationId xmlns:p14="http://schemas.microsoft.com/office/powerpoint/2010/main" val="422060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2DF6-AE12-4452-D450-CFB85D1B34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4223A7-7164-52E6-D90B-F916FBD60B91}"/>
              </a:ext>
            </a:extLst>
          </p:cNvPr>
          <p:cNvSpPr>
            <a:spLocks noGrp="1"/>
          </p:cNvSpPr>
          <p:nvPr>
            <p:ph type="title"/>
          </p:nvPr>
        </p:nvSpPr>
        <p:spPr/>
        <p:txBody>
          <a:bodyPr>
            <a:normAutofit/>
          </a:bodyPr>
          <a:lstStyle/>
          <a:p>
            <a:r>
              <a:rPr lang="en-US" sz="3600" b="1" u="sng"/>
              <a:t>Training and Evaluation</a:t>
            </a:r>
            <a:endParaRPr lang="en-US" sz="3600" b="1" u="sng">
              <a:cs typeface="Arial"/>
            </a:endParaRPr>
          </a:p>
        </p:txBody>
      </p:sp>
      <p:sp>
        <p:nvSpPr>
          <p:cNvPr id="5" name="Content Placeholder 4">
            <a:extLst>
              <a:ext uri="{FF2B5EF4-FFF2-40B4-BE49-F238E27FC236}">
                <a16:creationId xmlns:a16="http://schemas.microsoft.com/office/drawing/2014/main" id="{F74FE1D3-8760-6ADB-CBA5-C6DDBC5D359F}"/>
              </a:ext>
            </a:extLst>
          </p:cNvPr>
          <p:cNvSpPr>
            <a:spLocks noGrp="1"/>
          </p:cNvSpPr>
          <p:nvPr>
            <p:ph idx="1"/>
          </p:nvPr>
        </p:nvSpPr>
        <p:spPr/>
        <p:txBody>
          <a:bodyPr vert="horz" lIns="91440" tIns="45720" rIns="91440" bIns="45720" rtlCol="0" anchor="t">
            <a:normAutofit/>
          </a:bodyPr>
          <a:lstStyle/>
          <a:p>
            <a:r>
              <a:rPr lang="en-US" sz="1600" b="1" u="sng"/>
              <a:t>Loss function</a:t>
            </a:r>
            <a:r>
              <a:rPr lang="en-US" sz="1600"/>
              <a:t>: Binary-cross entropy</a:t>
            </a:r>
            <a:endParaRPr lang="en-US" sz="1600">
              <a:cs typeface="Arial"/>
            </a:endParaRPr>
          </a:p>
          <a:p>
            <a:r>
              <a:rPr lang="en-US" sz="1600">
                <a:cs typeface="Arial"/>
              </a:rPr>
              <a:t>Prev-bit task --&gt; </a:t>
            </a:r>
            <a:r>
              <a:rPr lang="en-US" sz="1600" err="1">
                <a:cs typeface="Arial"/>
              </a:rPr>
              <a:t>n</a:t>
            </a:r>
            <a:r>
              <a:rPr lang="en-US" sz="1600" baseline="-25000" err="1">
                <a:cs typeface="Arial"/>
              </a:rPr>
              <a:t>train</a:t>
            </a:r>
            <a:r>
              <a:rPr lang="en-US" sz="1600">
                <a:cs typeface="Arial"/>
              </a:rPr>
              <a:t> = 100, </a:t>
            </a:r>
            <a:r>
              <a:rPr lang="en-US" sz="1600" err="1">
                <a:cs typeface="Arial"/>
              </a:rPr>
              <a:t>n</a:t>
            </a:r>
            <a:r>
              <a:rPr lang="en-US" sz="1600" baseline="-25000" err="1">
                <a:cs typeface="Arial"/>
              </a:rPr>
              <a:t>test</a:t>
            </a:r>
            <a:r>
              <a:rPr lang="en-US" sz="1600">
                <a:cs typeface="Arial"/>
              </a:rPr>
              <a:t> = 10, T = 10, 10000</a:t>
            </a:r>
            <a:endParaRPr lang="en-US" sz="1600"/>
          </a:p>
          <a:p>
            <a:r>
              <a:rPr lang="en-US" sz="1600">
                <a:cs typeface="Arial"/>
              </a:rPr>
              <a:t>Memory task --&gt; </a:t>
            </a:r>
            <a:r>
              <a:rPr lang="en-US" sz="1600" err="1">
                <a:cs typeface="Arial"/>
              </a:rPr>
              <a:t>n</a:t>
            </a:r>
            <a:r>
              <a:rPr lang="en-US" sz="1600" baseline="-25000" err="1">
                <a:cs typeface="Arial"/>
              </a:rPr>
              <a:t>train</a:t>
            </a:r>
            <a:r>
              <a:rPr lang="en-US" sz="1600">
                <a:cs typeface="Arial"/>
              </a:rPr>
              <a:t> = 10,000, </a:t>
            </a:r>
            <a:r>
              <a:rPr lang="en-US" sz="1600" err="1">
                <a:cs typeface="Arial"/>
              </a:rPr>
              <a:t>n</a:t>
            </a:r>
            <a:r>
              <a:rPr lang="en-US" sz="1600" baseline="-25000" err="1">
                <a:cs typeface="Arial"/>
              </a:rPr>
              <a:t>test</a:t>
            </a:r>
            <a:r>
              <a:rPr lang="en-US" sz="1600">
                <a:cs typeface="Arial"/>
              </a:rPr>
              <a:t> = 1000, timestep = 1, 10</a:t>
            </a:r>
            <a:endParaRPr lang="en-US" sz="1600"/>
          </a:p>
          <a:p>
            <a:r>
              <a:rPr lang="en-US" sz="1600" b="1" u="sng"/>
              <a:t>Optimization</a:t>
            </a:r>
            <a:r>
              <a:rPr lang="en-US" sz="1600"/>
              <a:t>: gradient descent with optional clipping</a:t>
            </a:r>
            <a:endParaRPr lang="en-US" sz="1600">
              <a:cs typeface="Arial"/>
            </a:endParaRPr>
          </a:p>
          <a:p>
            <a:pPr lvl="1">
              <a:buFont typeface="Calibri"/>
              <a:buChar char="-"/>
            </a:pPr>
            <a:r>
              <a:rPr lang="en-US" sz="1200">
                <a:cs typeface="Arial"/>
              </a:rPr>
              <a:t>Vary the coefficients within the matrices A, B, C for the model to fit the data</a:t>
            </a:r>
          </a:p>
          <a:p>
            <a:r>
              <a:rPr lang="en-US" sz="1600"/>
              <a:t>Evaluate using </a:t>
            </a:r>
            <a:r>
              <a:rPr lang="en-US" sz="1600" b="1" u="sng"/>
              <a:t>accuracy </a:t>
            </a:r>
            <a:r>
              <a:rPr lang="en-US" sz="1600"/>
              <a:t>and </a:t>
            </a:r>
            <a:r>
              <a:rPr lang="en-US" sz="1600" b="1" u="sng"/>
              <a:t>loss on test set</a:t>
            </a:r>
            <a:endParaRPr lang="en-US" sz="1600" b="1" u="sng">
              <a:cs typeface="Arial"/>
            </a:endParaRPr>
          </a:p>
          <a:p>
            <a:pPr lvl="1">
              <a:buFont typeface="Calibri"/>
              <a:buChar char="-"/>
            </a:pPr>
            <a:r>
              <a:rPr lang="en-US" sz="1200">
                <a:cs typeface="Arial"/>
              </a:rPr>
              <a:t>Use test data to make prediction and compare</a:t>
            </a:r>
          </a:p>
          <a:p>
            <a:pPr lvl="1">
              <a:buFont typeface="Calibri"/>
              <a:buChar char="-"/>
            </a:pPr>
            <a:endParaRPr lang="en-US" sz="1200">
              <a:cs typeface="Arial"/>
            </a:endParaRPr>
          </a:p>
          <a:p>
            <a:pPr lvl="1">
              <a:buFont typeface="Calibri"/>
              <a:buChar char="-"/>
            </a:pPr>
            <a:endParaRPr lang="en-US" sz="1200">
              <a:cs typeface="Arial"/>
            </a:endParaRPr>
          </a:p>
          <a:p>
            <a:pPr lvl="1">
              <a:buFont typeface="Calibri"/>
              <a:buChar char="-"/>
            </a:pPr>
            <a:endParaRPr lang="en-US" sz="1200">
              <a:cs typeface="Arial"/>
            </a:endParaRPr>
          </a:p>
        </p:txBody>
      </p:sp>
    </p:spTree>
    <p:extLst>
      <p:ext uri="{BB962C8B-B14F-4D97-AF65-F5344CB8AC3E}">
        <p14:creationId xmlns:p14="http://schemas.microsoft.com/office/powerpoint/2010/main" val="3063969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E226-DF3E-5073-EE08-6FAD87AF63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86DB34-86F2-21AA-4A11-93B86D79A597}"/>
              </a:ext>
            </a:extLst>
          </p:cNvPr>
          <p:cNvSpPr>
            <a:spLocks noGrp="1"/>
          </p:cNvSpPr>
          <p:nvPr>
            <p:ph type="title"/>
          </p:nvPr>
        </p:nvSpPr>
        <p:spPr/>
        <p:txBody>
          <a:bodyPr>
            <a:normAutofit/>
          </a:bodyPr>
          <a:lstStyle/>
          <a:p>
            <a:r>
              <a:rPr lang="en-US" sz="3600" b="1" u="sng"/>
              <a:t>Previous Bit Task</a:t>
            </a:r>
            <a:endParaRPr lang="en-US" sz="3600" b="1" u="sng">
              <a:cs typeface="Arial"/>
            </a:endParaRPr>
          </a:p>
        </p:txBody>
      </p:sp>
      <p:sp>
        <p:nvSpPr>
          <p:cNvPr id="5" name="Content Placeholder 4">
            <a:extLst>
              <a:ext uri="{FF2B5EF4-FFF2-40B4-BE49-F238E27FC236}">
                <a16:creationId xmlns:a16="http://schemas.microsoft.com/office/drawing/2014/main" id="{A7081E16-F4AE-6A4A-87BC-7054C602981F}"/>
              </a:ext>
            </a:extLst>
          </p:cNvPr>
          <p:cNvSpPr>
            <a:spLocks noGrp="1"/>
          </p:cNvSpPr>
          <p:nvPr>
            <p:ph idx="1"/>
          </p:nvPr>
        </p:nvSpPr>
        <p:spPr/>
        <p:txBody>
          <a:bodyPr vert="horz" lIns="91440" tIns="45720" rIns="91440" bIns="45720" rtlCol="0" anchor="t">
            <a:normAutofit/>
          </a:bodyPr>
          <a:lstStyle/>
          <a:p>
            <a:r>
              <a:rPr lang="en-US" sz="1600" b="1" u="sng"/>
              <a:t>Input</a:t>
            </a:r>
            <a:r>
              <a:rPr lang="en-US" sz="1600"/>
              <a:t>: binary sequence if 0s and 1s</a:t>
            </a:r>
          </a:p>
          <a:p>
            <a:r>
              <a:rPr lang="en-US" sz="1600" b="1" u="sng"/>
              <a:t>Output</a:t>
            </a:r>
            <a:r>
              <a:rPr lang="en-US" sz="1600"/>
              <a:t>: previous bit at each timestep (i.e., shifted sequence)</a:t>
            </a:r>
            <a:endParaRPr lang="en-US" sz="1600">
              <a:cs typeface="Arial"/>
            </a:endParaRPr>
          </a:p>
          <a:p>
            <a:r>
              <a:rPr lang="en-US" sz="1600"/>
              <a:t>Tests </a:t>
            </a:r>
            <a:r>
              <a:rPr lang="en-US" sz="1600" b="1" u="sng"/>
              <a:t>short-term memory</a:t>
            </a:r>
            <a:r>
              <a:rPr lang="en-US" sz="1600"/>
              <a:t> and immediate dependencies</a:t>
            </a:r>
            <a:endParaRPr lang="en-US" sz="1600">
              <a:cs typeface="Arial"/>
            </a:endParaRPr>
          </a:p>
          <a:p>
            <a:r>
              <a:rPr lang="en-US" sz="1600">
                <a:cs typeface="Arial"/>
              </a:rPr>
              <a:t>Sequence lengths can be large; model must still retain local patterns accurately</a:t>
            </a:r>
          </a:p>
          <a:p>
            <a:r>
              <a:rPr lang="en-US" sz="1600">
                <a:cs typeface="Arial"/>
              </a:rPr>
              <a:t>Example:</a:t>
            </a:r>
          </a:p>
          <a:p>
            <a:pPr lvl="1">
              <a:buFont typeface="Courier New"/>
              <a:buChar char="o"/>
            </a:pPr>
            <a:r>
              <a:rPr lang="en-US" sz="1600">
                <a:cs typeface="Arial"/>
              </a:rPr>
              <a:t>Input: [0, 1, 0, 1]</a:t>
            </a:r>
          </a:p>
          <a:p>
            <a:pPr lvl="1">
              <a:buFont typeface="Courier New"/>
              <a:buChar char="o"/>
            </a:pPr>
            <a:r>
              <a:rPr lang="en-US" sz="1600">
                <a:cs typeface="Arial"/>
              </a:rPr>
              <a:t>Target output: [-, 0, 1, 0]</a:t>
            </a:r>
          </a:p>
          <a:p>
            <a:pPr marL="0" indent="0">
              <a:buNone/>
            </a:pPr>
            <a:endParaRPr lang="en-US" sz="1600">
              <a:cs typeface="Arial"/>
            </a:endParaRPr>
          </a:p>
          <a:p>
            <a:r>
              <a:rPr lang="en-US" sz="1600">
                <a:cs typeface="Arial"/>
              </a:rPr>
              <a:t>Optional: run demo with short length in-class</a:t>
            </a:r>
            <a:endParaRPr lang="en-US" sz="1600">
              <a:solidFill>
                <a:srgbClr val="BE5700"/>
              </a:solidFill>
              <a:cs typeface="Arial"/>
            </a:endParaRPr>
          </a:p>
          <a:p>
            <a:endParaRPr lang="en-US" sz="1600">
              <a:cs typeface="Arial"/>
            </a:endParaRPr>
          </a:p>
        </p:txBody>
      </p:sp>
    </p:spTree>
    <p:extLst>
      <p:ext uri="{BB962C8B-B14F-4D97-AF65-F5344CB8AC3E}">
        <p14:creationId xmlns:p14="http://schemas.microsoft.com/office/powerpoint/2010/main" val="1517386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E2CC-65E6-6D70-545C-98D2C501E135}"/>
              </a:ext>
            </a:extLst>
          </p:cNvPr>
          <p:cNvSpPr>
            <a:spLocks noGrp="1"/>
          </p:cNvSpPr>
          <p:nvPr>
            <p:ph type="title"/>
          </p:nvPr>
        </p:nvSpPr>
        <p:spPr>
          <a:xfrm>
            <a:off x="457199" y="555529"/>
            <a:ext cx="7748815" cy="630465"/>
          </a:xfrm>
        </p:spPr>
        <p:txBody>
          <a:bodyPr>
            <a:normAutofit fontScale="90000"/>
          </a:bodyPr>
          <a:lstStyle/>
          <a:p>
            <a:r>
              <a:rPr lang="en-US" b="1" u="sng">
                <a:cs typeface="Arial"/>
              </a:rPr>
              <a:t>Previous Bit Results</a:t>
            </a:r>
          </a:p>
        </p:txBody>
      </p:sp>
      <p:pic>
        <p:nvPicPr>
          <p:cNvPr id="4" name="Content Placeholder 3" descr="A graph with a number of blue bars&#10;&#10;AI-generated content may be incorrect.">
            <a:extLst>
              <a:ext uri="{FF2B5EF4-FFF2-40B4-BE49-F238E27FC236}">
                <a16:creationId xmlns:a16="http://schemas.microsoft.com/office/drawing/2014/main" id="{C0BDBC0B-BB29-9335-133B-C628DFE35936}"/>
              </a:ext>
            </a:extLst>
          </p:cNvPr>
          <p:cNvPicPr>
            <a:picLocks noGrp="1" noChangeAspect="1"/>
          </p:cNvPicPr>
          <p:nvPr>
            <p:ph idx="1"/>
          </p:nvPr>
        </p:nvPicPr>
        <p:blipFill>
          <a:blip r:embed="rId3"/>
          <a:stretch>
            <a:fillRect/>
          </a:stretch>
        </p:blipFill>
        <p:spPr>
          <a:xfrm>
            <a:off x="5703209" y="1194894"/>
            <a:ext cx="3179086" cy="1777936"/>
          </a:xfrm>
          <a:prstGeom prst="rect">
            <a:avLst/>
          </a:prstGeom>
        </p:spPr>
      </p:pic>
      <p:pic>
        <p:nvPicPr>
          <p:cNvPr id="6" name="Picture 5" descr="A graph with a line&#10;&#10;AI-generated content may be incorrect.">
            <a:extLst>
              <a:ext uri="{FF2B5EF4-FFF2-40B4-BE49-F238E27FC236}">
                <a16:creationId xmlns:a16="http://schemas.microsoft.com/office/drawing/2014/main" id="{2970E94B-315A-73E1-57DC-DC2FE7713328}"/>
              </a:ext>
            </a:extLst>
          </p:cNvPr>
          <p:cNvPicPr>
            <a:picLocks noChangeAspect="1"/>
          </p:cNvPicPr>
          <p:nvPr/>
        </p:nvPicPr>
        <p:blipFill>
          <a:blip r:embed="rId4"/>
          <a:stretch>
            <a:fillRect/>
          </a:stretch>
        </p:blipFill>
        <p:spPr>
          <a:xfrm>
            <a:off x="2673601" y="1188808"/>
            <a:ext cx="2910330" cy="1778980"/>
          </a:xfrm>
          <a:prstGeom prst="rect">
            <a:avLst/>
          </a:prstGeom>
        </p:spPr>
      </p:pic>
      <p:pic>
        <p:nvPicPr>
          <p:cNvPr id="7" name="Picture 6" descr="A graph with blue dots&#10;&#10;AI-generated content may be incorrect.">
            <a:extLst>
              <a:ext uri="{FF2B5EF4-FFF2-40B4-BE49-F238E27FC236}">
                <a16:creationId xmlns:a16="http://schemas.microsoft.com/office/drawing/2014/main" id="{4A888124-D289-147B-B664-051273AB0C91}"/>
              </a:ext>
            </a:extLst>
          </p:cNvPr>
          <p:cNvPicPr>
            <a:picLocks noChangeAspect="1"/>
          </p:cNvPicPr>
          <p:nvPr/>
        </p:nvPicPr>
        <p:blipFill>
          <a:blip r:embed="rId5"/>
          <a:stretch>
            <a:fillRect/>
          </a:stretch>
        </p:blipFill>
        <p:spPr>
          <a:xfrm>
            <a:off x="3558312" y="3091397"/>
            <a:ext cx="3021652" cy="1871315"/>
          </a:xfrm>
          <a:prstGeom prst="rect">
            <a:avLst/>
          </a:prstGeom>
        </p:spPr>
      </p:pic>
      <p:sp>
        <p:nvSpPr>
          <p:cNvPr id="10" name="TextBox 9">
            <a:extLst>
              <a:ext uri="{FF2B5EF4-FFF2-40B4-BE49-F238E27FC236}">
                <a16:creationId xmlns:a16="http://schemas.microsoft.com/office/drawing/2014/main" id="{73F1D5CB-9434-DC76-F0F3-CFC5B7878680}"/>
              </a:ext>
            </a:extLst>
          </p:cNvPr>
          <p:cNvSpPr txBox="1"/>
          <p:nvPr/>
        </p:nvSpPr>
        <p:spPr>
          <a:xfrm>
            <a:off x="455465" y="3247754"/>
            <a:ext cx="304300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a:solidFill>
                  <a:srgbClr val="FFFFFF"/>
                </a:solidFill>
                <a:latin typeface="Arial"/>
                <a:cs typeface="Arial"/>
              </a:rPr>
              <a:t>T=10,000</a:t>
            </a:r>
            <a:r>
              <a:rPr lang="en-US" sz="1600">
                <a:solidFill>
                  <a:srgbClr val="FFFFFF"/>
                </a:solidFill>
                <a:latin typeface="Arial"/>
                <a:cs typeface="Arial"/>
              </a:rPr>
              <a:t> (long sequences)</a:t>
            </a:r>
          </a:p>
          <a:p>
            <a:pPr marL="285750" indent="-285750">
              <a:buFont typeface="Calibri"/>
              <a:buChar char="-"/>
            </a:pPr>
            <a:r>
              <a:rPr lang="en-US" sz="1600">
                <a:solidFill>
                  <a:srgbClr val="FFFFFF"/>
                </a:solidFill>
                <a:latin typeface="Arial"/>
                <a:cs typeface="Arial"/>
              </a:rPr>
              <a:t>99.996% accuracy</a:t>
            </a:r>
          </a:p>
          <a:p>
            <a:pPr marL="285750" indent="-285750">
              <a:buFont typeface="Calibri"/>
              <a:buChar char="-"/>
            </a:pPr>
            <a:r>
              <a:rPr lang="en-US" sz="1600">
                <a:solidFill>
                  <a:srgbClr val="FFFFFF"/>
                </a:solidFill>
                <a:latin typeface="Arial"/>
                <a:cs typeface="Arial"/>
              </a:rPr>
              <a:t>Model scales with sequence length, even without convolution kernel or DPLR trick</a:t>
            </a:r>
          </a:p>
          <a:p>
            <a:pPr marL="285750" indent="-285750">
              <a:buFont typeface="Calibri"/>
              <a:buChar char="-"/>
            </a:pPr>
            <a:endParaRPr lang="en-US" sz="1600">
              <a:solidFill>
                <a:srgbClr val="FFFFFF"/>
              </a:solidFill>
              <a:latin typeface="Arial"/>
              <a:cs typeface="Arial"/>
            </a:endParaRPr>
          </a:p>
        </p:txBody>
      </p:sp>
      <p:sp>
        <p:nvSpPr>
          <p:cNvPr id="11" name="TextBox 10">
            <a:extLst>
              <a:ext uri="{FF2B5EF4-FFF2-40B4-BE49-F238E27FC236}">
                <a16:creationId xmlns:a16="http://schemas.microsoft.com/office/drawing/2014/main" id="{C573F5C1-837B-8445-9FD0-3D2EF59E617C}"/>
              </a:ext>
            </a:extLst>
          </p:cNvPr>
          <p:cNvSpPr txBox="1"/>
          <p:nvPr/>
        </p:nvSpPr>
        <p:spPr>
          <a:xfrm>
            <a:off x="289276" y="1282312"/>
            <a:ext cx="32729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a:solidFill>
                  <a:srgbClr val="FFFFFF"/>
                </a:solidFill>
                <a:latin typeface="Arial"/>
                <a:cs typeface="Arial"/>
              </a:rPr>
              <a:t>T=10</a:t>
            </a:r>
            <a:r>
              <a:rPr lang="en-US" sz="1600">
                <a:solidFill>
                  <a:srgbClr val="FFFFFF"/>
                </a:solidFill>
                <a:latin typeface="Arial"/>
                <a:cs typeface="Arial"/>
              </a:rPr>
              <a:t> (short sequences)</a:t>
            </a:r>
          </a:p>
          <a:p>
            <a:pPr marL="285750" indent="-285750">
              <a:buFont typeface="Calibri"/>
              <a:buChar char="-"/>
            </a:pPr>
            <a:r>
              <a:rPr lang="en-US" sz="1600">
                <a:solidFill>
                  <a:srgbClr val="FFFFFF"/>
                </a:solidFill>
                <a:latin typeface="Arial"/>
                <a:cs typeface="Arial"/>
              </a:rPr>
              <a:t>Train/test: 100/10</a:t>
            </a:r>
          </a:p>
          <a:p>
            <a:pPr marL="285750" indent="-285750">
              <a:buFont typeface="Calibri"/>
              <a:buChar char="-"/>
            </a:pPr>
            <a:r>
              <a:rPr lang="en-US" sz="1600">
                <a:solidFill>
                  <a:srgbClr val="FFFFFF"/>
                </a:solidFill>
                <a:latin typeface="Arial"/>
                <a:cs typeface="Arial"/>
              </a:rPr>
              <a:t>Epochs: 10</a:t>
            </a:r>
          </a:p>
          <a:p>
            <a:pPr marL="285750" indent="-285750">
              <a:buFont typeface="Calibri"/>
              <a:buChar char="-"/>
            </a:pPr>
            <a:r>
              <a:rPr lang="en-US" sz="1600">
                <a:solidFill>
                  <a:srgbClr val="FFFFFF"/>
                </a:solidFill>
                <a:latin typeface="Arial"/>
                <a:cs typeface="Arial"/>
              </a:rPr>
              <a:t>Learning rate: 0.01</a:t>
            </a:r>
            <a:endParaRPr lang="en-US"/>
          </a:p>
          <a:p>
            <a:pPr marL="285750" indent="-285750">
              <a:buFont typeface="Calibri"/>
              <a:buChar char="-"/>
            </a:pPr>
            <a:r>
              <a:rPr lang="en-US" sz="1600">
                <a:solidFill>
                  <a:srgbClr val="FFFFFF"/>
                </a:solidFill>
                <a:latin typeface="Arial"/>
                <a:cs typeface="Arial"/>
              </a:rPr>
              <a:t>~92% accuracy</a:t>
            </a:r>
          </a:p>
        </p:txBody>
      </p:sp>
    </p:spTree>
    <p:extLst>
      <p:ext uri="{BB962C8B-B14F-4D97-AF65-F5344CB8AC3E}">
        <p14:creationId xmlns:p14="http://schemas.microsoft.com/office/powerpoint/2010/main" val="1812330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E687A-16A5-ADF7-AA6D-EC1FBE4553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4C375D-6962-B3BA-F862-039AC4CB28D8}"/>
              </a:ext>
            </a:extLst>
          </p:cNvPr>
          <p:cNvSpPr>
            <a:spLocks noGrp="1"/>
          </p:cNvSpPr>
          <p:nvPr>
            <p:ph type="title"/>
          </p:nvPr>
        </p:nvSpPr>
        <p:spPr/>
        <p:txBody>
          <a:bodyPr>
            <a:normAutofit/>
          </a:bodyPr>
          <a:lstStyle/>
          <a:p>
            <a:r>
              <a:rPr lang="en-US" sz="3600" b="1" u="sng"/>
              <a:t>Memory Copy Task</a:t>
            </a:r>
            <a:endParaRPr lang="en-US" sz="3600" b="1" u="sng">
              <a:cs typeface="Arial"/>
            </a:endParaRPr>
          </a:p>
        </p:txBody>
      </p:sp>
      <p:sp>
        <p:nvSpPr>
          <p:cNvPr id="5" name="Content Placeholder 4">
            <a:extLst>
              <a:ext uri="{FF2B5EF4-FFF2-40B4-BE49-F238E27FC236}">
                <a16:creationId xmlns:a16="http://schemas.microsoft.com/office/drawing/2014/main" id="{B2EA39DD-037C-6066-1548-048A9CBDD1DF}"/>
              </a:ext>
            </a:extLst>
          </p:cNvPr>
          <p:cNvSpPr>
            <a:spLocks noGrp="1"/>
          </p:cNvSpPr>
          <p:nvPr>
            <p:ph idx="1"/>
          </p:nvPr>
        </p:nvSpPr>
        <p:spPr/>
        <p:txBody>
          <a:bodyPr vert="horz" lIns="91440" tIns="45720" rIns="91440" bIns="45720" rtlCol="0" anchor="t">
            <a:normAutofit/>
          </a:bodyPr>
          <a:lstStyle/>
          <a:p>
            <a:r>
              <a:rPr lang="en-US" sz="1600" b="1" u="sng"/>
              <a:t>Input</a:t>
            </a:r>
            <a:r>
              <a:rPr lang="en-US" sz="1600"/>
              <a:t>: sequence -&gt; delay -&gt; delimiter -&gt; blanks</a:t>
            </a:r>
          </a:p>
          <a:p>
            <a:r>
              <a:rPr lang="en-US" sz="1600" b="1" u="sng"/>
              <a:t>Output</a:t>
            </a:r>
            <a:r>
              <a:rPr lang="en-US" sz="1600"/>
              <a:t>: blanks -&gt; sequence copied after delimiter</a:t>
            </a:r>
            <a:endParaRPr lang="en-US" sz="1600">
              <a:cs typeface="Arial"/>
            </a:endParaRPr>
          </a:p>
          <a:p>
            <a:r>
              <a:rPr lang="en-US" sz="1600"/>
              <a:t>Tests the model’s ability to store and recall information</a:t>
            </a:r>
            <a:endParaRPr lang="en-US" sz="1600">
              <a:cs typeface="Arial"/>
            </a:endParaRPr>
          </a:p>
        </p:txBody>
      </p:sp>
    </p:spTree>
    <p:extLst>
      <p:ext uri="{BB962C8B-B14F-4D97-AF65-F5344CB8AC3E}">
        <p14:creationId xmlns:p14="http://schemas.microsoft.com/office/powerpoint/2010/main" val="286556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70AE-6CC3-F5B4-3733-10551425EDAB}"/>
              </a:ext>
            </a:extLst>
          </p:cNvPr>
          <p:cNvSpPr>
            <a:spLocks noGrp="1"/>
          </p:cNvSpPr>
          <p:nvPr>
            <p:ph type="title"/>
          </p:nvPr>
        </p:nvSpPr>
        <p:spPr>
          <a:xfrm>
            <a:off x="457200" y="294774"/>
            <a:ext cx="8229600" cy="857250"/>
          </a:xfrm>
        </p:spPr>
        <p:txBody>
          <a:bodyPr>
            <a:normAutofit/>
          </a:bodyPr>
          <a:lstStyle/>
          <a:p>
            <a:r>
              <a:rPr lang="en-US" sz="4000" u="sng">
                <a:cs typeface="Arial"/>
              </a:rPr>
              <a:t>Memory copy – why bad results</a:t>
            </a:r>
          </a:p>
        </p:txBody>
      </p:sp>
      <p:sp>
        <p:nvSpPr>
          <p:cNvPr id="5" name="Title 1">
            <a:extLst>
              <a:ext uri="{FF2B5EF4-FFF2-40B4-BE49-F238E27FC236}">
                <a16:creationId xmlns:a16="http://schemas.microsoft.com/office/drawing/2014/main" id="{98AA6DAA-2E25-4CD9-F5FA-D14744B1C85E}"/>
              </a:ext>
            </a:extLst>
          </p:cNvPr>
          <p:cNvSpPr txBox="1">
            <a:spLocks/>
          </p:cNvSpPr>
          <p:nvPr/>
        </p:nvSpPr>
        <p:spPr>
          <a:xfrm>
            <a:off x="501" y="731363"/>
            <a:ext cx="2848874" cy="954297"/>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chemeClr val="bg1"/>
                </a:solidFill>
                <a:latin typeface="Arial"/>
                <a:ea typeface="+mj-ea"/>
                <a:cs typeface="+mj-cs"/>
              </a:defRPr>
            </a:lvl1pPr>
          </a:lstStyle>
          <a:p>
            <a:pPr>
              <a:spcAft>
                <a:spcPts val="0"/>
              </a:spcAft>
            </a:pPr>
            <a:r>
              <a:rPr lang="en-US" sz="2400" u="sng">
                <a:cs typeface="Arial"/>
              </a:rPr>
              <a:t>Short memorization</a:t>
            </a:r>
            <a:endParaRPr lang="en-US" sz="2800" u="sng">
              <a:cs typeface="Arial"/>
            </a:endParaRPr>
          </a:p>
        </p:txBody>
      </p:sp>
      <p:pic>
        <p:nvPicPr>
          <p:cNvPr id="7" name="Picture 6">
            <a:extLst>
              <a:ext uri="{FF2B5EF4-FFF2-40B4-BE49-F238E27FC236}">
                <a16:creationId xmlns:a16="http://schemas.microsoft.com/office/drawing/2014/main" id="{1752DB95-45CC-50E2-8946-47DD737C391E}"/>
              </a:ext>
            </a:extLst>
          </p:cNvPr>
          <p:cNvPicPr>
            <a:picLocks noChangeAspect="1"/>
          </p:cNvPicPr>
          <p:nvPr/>
        </p:nvPicPr>
        <p:blipFill>
          <a:blip r:embed="rId3"/>
          <a:stretch>
            <a:fillRect/>
          </a:stretch>
        </p:blipFill>
        <p:spPr>
          <a:xfrm>
            <a:off x="393355" y="1466850"/>
            <a:ext cx="1449806" cy="1472866"/>
          </a:xfrm>
          <a:prstGeom prst="rect">
            <a:avLst/>
          </a:prstGeom>
        </p:spPr>
      </p:pic>
      <p:pic>
        <p:nvPicPr>
          <p:cNvPr id="8" name="Picture 7">
            <a:extLst>
              <a:ext uri="{FF2B5EF4-FFF2-40B4-BE49-F238E27FC236}">
                <a16:creationId xmlns:a16="http://schemas.microsoft.com/office/drawing/2014/main" id="{6387AF9C-EA41-605B-306E-7B92C543211A}"/>
              </a:ext>
            </a:extLst>
          </p:cNvPr>
          <p:cNvPicPr>
            <a:picLocks noChangeAspect="1"/>
          </p:cNvPicPr>
          <p:nvPr/>
        </p:nvPicPr>
        <p:blipFill>
          <a:blip r:embed="rId4"/>
          <a:stretch>
            <a:fillRect/>
          </a:stretch>
        </p:blipFill>
        <p:spPr>
          <a:xfrm>
            <a:off x="5840555" y="1489564"/>
            <a:ext cx="3475973" cy="385176"/>
          </a:xfrm>
          <a:prstGeom prst="rect">
            <a:avLst/>
          </a:prstGeom>
        </p:spPr>
      </p:pic>
      <p:sp>
        <p:nvSpPr>
          <p:cNvPr id="10" name="Title 1">
            <a:extLst>
              <a:ext uri="{FF2B5EF4-FFF2-40B4-BE49-F238E27FC236}">
                <a16:creationId xmlns:a16="http://schemas.microsoft.com/office/drawing/2014/main" id="{B5BC0C78-105C-A712-3294-135A8D57B72D}"/>
              </a:ext>
            </a:extLst>
          </p:cNvPr>
          <p:cNvSpPr txBox="1">
            <a:spLocks/>
          </p:cNvSpPr>
          <p:nvPr/>
        </p:nvSpPr>
        <p:spPr>
          <a:xfrm>
            <a:off x="2843375" y="1281444"/>
            <a:ext cx="3183740" cy="3612826"/>
          </a:xfrm>
          <a:prstGeom prst="rect">
            <a:avLst/>
          </a:prstGeom>
        </p:spPr>
        <p:txBody>
          <a:bodyPr vert="horz" lIns="91440" tIns="45720" rIns="91440" bIns="45720" rtlCol="0" anchor="ctr">
            <a:normAutofit fontScale="85000" lnSpcReduction="20000"/>
          </a:bodyPr>
          <a:lstStyle>
            <a:lvl1pPr algn="l" defTabSz="457200" rtl="0" eaLnBrk="1" latinLnBrk="0" hangingPunct="1">
              <a:spcBef>
                <a:spcPct val="0"/>
              </a:spcBef>
              <a:buNone/>
              <a:defRPr sz="4400" kern="1200">
                <a:solidFill>
                  <a:schemeClr val="bg1"/>
                </a:solidFill>
                <a:latin typeface="Arial"/>
                <a:ea typeface="+mj-ea"/>
                <a:cs typeface="+mj-cs"/>
              </a:defRPr>
            </a:lvl1pPr>
          </a:lstStyle>
          <a:p>
            <a:pPr>
              <a:spcAft>
                <a:spcPts val="0"/>
              </a:spcAft>
            </a:pPr>
            <a:r>
              <a:rPr lang="en-US" sz="2400" u="sng">
                <a:cs typeface="Arial"/>
              </a:rPr>
              <a:t>Gradient Blow-Up</a:t>
            </a:r>
          </a:p>
          <a:p>
            <a:pPr marL="342900" indent="-342900">
              <a:spcAft>
                <a:spcPts val="0"/>
              </a:spcAft>
              <a:buFont typeface="Calibri"/>
              <a:buChar char="-"/>
            </a:pPr>
            <a:r>
              <a:rPr lang="en-US" sz="1600">
                <a:cs typeface="Arial"/>
              </a:rPr>
              <a:t>Error blows up as epoch --&gt; infinity</a:t>
            </a:r>
          </a:p>
          <a:p>
            <a:pPr marL="342900" indent="-342900">
              <a:spcAft>
                <a:spcPts val="0"/>
              </a:spcAft>
              <a:buFont typeface="Calibri"/>
              <a:buChar char="-"/>
            </a:pPr>
            <a:endParaRPr lang="en-US" sz="1600">
              <a:cs typeface="Arial"/>
            </a:endParaRPr>
          </a:p>
          <a:p>
            <a:pPr marL="342900" indent="-342900">
              <a:spcAft>
                <a:spcPts val="0"/>
              </a:spcAft>
              <a:buFont typeface="Calibri"/>
              <a:buChar char="-"/>
            </a:pPr>
            <a:r>
              <a:rPr lang="en-US" sz="1600">
                <a:cs typeface="Arial"/>
              </a:rPr>
              <a:t>the logits increase in magnitude with increasing memory need</a:t>
            </a:r>
          </a:p>
          <a:p>
            <a:pPr marL="342900" indent="-342900">
              <a:spcAft>
                <a:spcPts val="0"/>
              </a:spcAft>
              <a:buFont typeface="Calibri"/>
              <a:buChar char="-"/>
            </a:pPr>
            <a:endParaRPr lang="en-US" sz="1600">
              <a:cs typeface="Arial"/>
            </a:endParaRPr>
          </a:p>
          <a:p>
            <a:pPr marL="342900" indent="-342900">
              <a:spcAft>
                <a:spcPts val="0"/>
              </a:spcAft>
              <a:buFont typeface="Calibri"/>
              <a:buChar char="-"/>
            </a:pPr>
            <a:r>
              <a:rPr lang="en-US" sz="1500">
                <a:cs typeface="Arial"/>
              </a:rPr>
              <a:t>hidden state components increase in magnitude with increasing memory need</a:t>
            </a:r>
            <a:endParaRPr lang="en-US" sz="1600">
              <a:cs typeface="Arial"/>
            </a:endParaRPr>
          </a:p>
          <a:p>
            <a:pPr>
              <a:spcAft>
                <a:spcPts val="0"/>
              </a:spcAft>
            </a:pPr>
            <a:endParaRPr lang="en-US" sz="1500">
              <a:cs typeface="Arial"/>
            </a:endParaRPr>
          </a:p>
          <a:p>
            <a:pPr marL="342900" indent="-342900">
              <a:spcAft>
                <a:spcPts val="0"/>
              </a:spcAft>
              <a:buFont typeface="Calibri"/>
              <a:buChar char="-"/>
            </a:pPr>
            <a:r>
              <a:rPr lang="en-US" sz="1600">
                <a:cs typeface="Arial"/>
              </a:rPr>
              <a:t>Reason: hidden 'A' matrix is called repeatedly + higher memory demands</a:t>
            </a:r>
          </a:p>
          <a:p>
            <a:pPr>
              <a:spcAft>
                <a:spcPts val="0"/>
              </a:spcAft>
            </a:pPr>
            <a:endParaRPr lang="en-US" sz="1600">
              <a:cs typeface="Arial"/>
            </a:endParaRPr>
          </a:p>
          <a:p>
            <a:pPr marL="342900" indent="-342900">
              <a:spcAft>
                <a:spcPts val="0"/>
              </a:spcAft>
              <a:buFont typeface="Calibri"/>
              <a:buChar char="-"/>
            </a:pPr>
            <a:r>
              <a:rPr lang="en-US" sz="1600">
                <a:cs typeface="Arial"/>
              </a:rPr>
              <a:t>Error is worse with higher memory demands</a:t>
            </a:r>
          </a:p>
          <a:p>
            <a:pPr marL="342900" indent="-342900">
              <a:spcAft>
                <a:spcPts val="0"/>
              </a:spcAft>
              <a:buFont typeface="Calibri"/>
              <a:buChar char="-"/>
            </a:pPr>
            <a:endParaRPr lang="en-US" sz="1600">
              <a:cs typeface="Arial"/>
            </a:endParaRPr>
          </a:p>
          <a:p>
            <a:pPr marL="342900" indent="-342900">
              <a:spcAft>
                <a:spcPts val="0"/>
              </a:spcAft>
              <a:buFont typeface="Calibri"/>
              <a:buChar char="-"/>
            </a:pPr>
            <a:r>
              <a:rPr lang="en-US" sz="1600">
                <a:cs typeface="Arial"/>
              </a:rPr>
              <a:t>Can possibly be solved with kernel convolution</a:t>
            </a:r>
          </a:p>
          <a:p>
            <a:pPr marL="342900" indent="-342900">
              <a:spcAft>
                <a:spcPts val="0"/>
              </a:spcAft>
              <a:buFont typeface="Calibri"/>
              <a:buChar char="-"/>
            </a:pPr>
            <a:endParaRPr lang="en-US" sz="1600">
              <a:cs typeface="Arial"/>
            </a:endParaRPr>
          </a:p>
        </p:txBody>
      </p:sp>
      <p:pic>
        <p:nvPicPr>
          <p:cNvPr id="3" name="Picture 2" descr="A white rectangular object with a white border&#10;&#10;AI-generated content may be incorrect.">
            <a:extLst>
              <a:ext uri="{FF2B5EF4-FFF2-40B4-BE49-F238E27FC236}">
                <a16:creationId xmlns:a16="http://schemas.microsoft.com/office/drawing/2014/main" id="{9D209A19-6B16-458E-1322-8EE3B853B75A}"/>
              </a:ext>
            </a:extLst>
          </p:cNvPr>
          <p:cNvPicPr>
            <a:picLocks noChangeAspect="1"/>
          </p:cNvPicPr>
          <p:nvPr/>
        </p:nvPicPr>
        <p:blipFill>
          <a:blip r:embed="rId5"/>
          <a:stretch>
            <a:fillRect/>
          </a:stretch>
        </p:blipFill>
        <p:spPr>
          <a:xfrm>
            <a:off x="2696" y="2942866"/>
            <a:ext cx="2744279" cy="389986"/>
          </a:xfrm>
          <a:prstGeom prst="rect">
            <a:avLst/>
          </a:prstGeom>
        </p:spPr>
      </p:pic>
      <p:pic>
        <p:nvPicPr>
          <p:cNvPr id="4" name="Picture 3" descr="A blue line graph with numbers&#10;&#10;AI-generated content may be incorrect.">
            <a:extLst>
              <a:ext uri="{FF2B5EF4-FFF2-40B4-BE49-F238E27FC236}">
                <a16:creationId xmlns:a16="http://schemas.microsoft.com/office/drawing/2014/main" id="{A3EE98CC-9654-3CBD-0510-DDF4CF0B2C47}"/>
              </a:ext>
            </a:extLst>
          </p:cNvPr>
          <p:cNvPicPr>
            <a:picLocks noChangeAspect="1"/>
          </p:cNvPicPr>
          <p:nvPr/>
        </p:nvPicPr>
        <p:blipFill>
          <a:blip r:embed="rId6"/>
          <a:stretch>
            <a:fillRect/>
          </a:stretch>
        </p:blipFill>
        <p:spPr>
          <a:xfrm>
            <a:off x="52298" y="3334828"/>
            <a:ext cx="2698990" cy="1870495"/>
          </a:xfrm>
          <a:prstGeom prst="rect">
            <a:avLst/>
          </a:prstGeom>
        </p:spPr>
      </p:pic>
      <p:sp>
        <p:nvSpPr>
          <p:cNvPr id="13" name="Title 1">
            <a:extLst>
              <a:ext uri="{FF2B5EF4-FFF2-40B4-BE49-F238E27FC236}">
                <a16:creationId xmlns:a16="http://schemas.microsoft.com/office/drawing/2014/main" id="{FAEB0565-6011-0FF2-D238-9B2403400AE8}"/>
              </a:ext>
            </a:extLst>
          </p:cNvPr>
          <p:cNvSpPr txBox="1">
            <a:spLocks/>
          </p:cNvSpPr>
          <p:nvPr/>
        </p:nvSpPr>
        <p:spPr>
          <a:xfrm>
            <a:off x="5844897" y="515703"/>
            <a:ext cx="2848874" cy="954297"/>
          </a:xfrm>
          <a:prstGeom prst="rect">
            <a:avLst/>
          </a:prstGeom>
        </p:spPr>
        <p:txBody>
          <a:bodyPr vert="horz" lIns="91440" tIns="45720" rIns="91440" bIns="45720" rtlCol="0" anchor="ctr">
            <a:normAutofit fontScale="92500"/>
          </a:bodyPr>
          <a:lstStyle>
            <a:lvl1pPr algn="l" defTabSz="457200" rtl="0" eaLnBrk="1" latinLnBrk="0" hangingPunct="1">
              <a:spcBef>
                <a:spcPct val="0"/>
              </a:spcBef>
              <a:buNone/>
              <a:defRPr sz="4400" kern="1200">
                <a:solidFill>
                  <a:schemeClr val="bg1"/>
                </a:solidFill>
                <a:latin typeface="Arial"/>
                <a:ea typeface="+mj-ea"/>
                <a:cs typeface="+mj-cs"/>
              </a:defRPr>
            </a:lvl1pPr>
          </a:lstStyle>
          <a:p>
            <a:pPr>
              <a:spcAft>
                <a:spcPts val="0"/>
              </a:spcAft>
            </a:pPr>
            <a:endParaRPr lang="en-US" sz="2400" u="sng">
              <a:cs typeface="Arial"/>
            </a:endParaRPr>
          </a:p>
          <a:p>
            <a:pPr>
              <a:spcAft>
                <a:spcPts val="0"/>
              </a:spcAft>
            </a:pPr>
            <a:r>
              <a:rPr lang="en-US" sz="2400" u="sng">
                <a:cs typeface="Arial"/>
              </a:rPr>
              <a:t>Longer memorization</a:t>
            </a:r>
            <a:endParaRPr lang="en-US" sz="2800" u="sng">
              <a:cs typeface="Arial"/>
            </a:endParaRPr>
          </a:p>
        </p:txBody>
      </p:sp>
      <p:pic>
        <p:nvPicPr>
          <p:cNvPr id="6" name="Picture 5" descr="A white rectangular object with a white stripe&#10;&#10;AI-generated content may be incorrect.">
            <a:extLst>
              <a:ext uri="{FF2B5EF4-FFF2-40B4-BE49-F238E27FC236}">
                <a16:creationId xmlns:a16="http://schemas.microsoft.com/office/drawing/2014/main" id="{8F158B48-3318-96CE-78E5-FC10ADCD2003}"/>
              </a:ext>
            </a:extLst>
          </p:cNvPr>
          <p:cNvPicPr>
            <a:picLocks noChangeAspect="1"/>
          </p:cNvPicPr>
          <p:nvPr/>
        </p:nvPicPr>
        <p:blipFill>
          <a:blip r:embed="rId7"/>
          <a:stretch>
            <a:fillRect/>
          </a:stretch>
        </p:blipFill>
        <p:spPr>
          <a:xfrm>
            <a:off x="5844395" y="1874826"/>
            <a:ext cx="4226945" cy="391027"/>
          </a:xfrm>
          <a:prstGeom prst="rect">
            <a:avLst/>
          </a:prstGeom>
        </p:spPr>
      </p:pic>
      <p:pic>
        <p:nvPicPr>
          <p:cNvPr id="9" name="Picture 8" descr="A graph with a line&#10;&#10;AI-generated content may be incorrect.">
            <a:extLst>
              <a:ext uri="{FF2B5EF4-FFF2-40B4-BE49-F238E27FC236}">
                <a16:creationId xmlns:a16="http://schemas.microsoft.com/office/drawing/2014/main" id="{B9DF4E7F-DC8B-3C93-2A14-41E24B1EEA72}"/>
              </a:ext>
            </a:extLst>
          </p:cNvPr>
          <p:cNvPicPr>
            <a:picLocks noChangeAspect="1"/>
          </p:cNvPicPr>
          <p:nvPr/>
        </p:nvPicPr>
        <p:blipFill>
          <a:blip r:embed="rId8"/>
          <a:stretch>
            <a:fillRect/>
          </a:stretch>
        </p:blipFill>
        <p:spPr>
          <a:xfrm>
            <a:off x="6741542" y="2227232"/>
            <a:ext cx="2400301" cy="1724206"/>
          </a:xfrm>
          <a:prstGeom prst="rect">
            <a:avLst/>
          </a:prstGeom>
        </p:spPr>
      </p:pic>
    </p:spTree>
    <p:extLst>
      <p:ext uri="{BB962C8B-B14F-4D97-AF65-F5344CB8AC3E}">
        <p14:creationId xmlns:p14="http://schemas.microsoft.com/office/powerpoint/2010/main" val="3242366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6C457-FF79-0EE7-54D9-02BD2A109D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F38780-2542-F60A-D665-D726911E200B}"/>
              </a:ext>
            </a:extLst>
          </p:cNvPr>
          <p:cNvSpPr>
            <a:spLocks noGrp="1"/>
          </p:cNvSpPr>
          <p:nvPr>
            <p:ph type="title"/>
          </p:nvPr>
        </p:nvSpPr>
        <p:spPr/>
        <p:txBody>
          <a:bodyPr>
            <a:normAutofit/>
          </a:bodyPr>
          <a:lstStyle/>
          <a:p>
            <a:r>
              <a:rPr lang="en-US" sz="3600" u="sng"/>
              <a:t>Previous bit vs. memory copy</a:t>
            </a:r>
            <a:endParaRPr lang="en-US" u="sng">
              <a:cs typeface="Arial"/>
            </a:endParaRPr>
          </a:p>
        </p:txBody>
      </p:sp>
      <p:sp>
        <p:nvSpPr>
          <p:cNvPr id="5" name="Content Placeholder 4">
            <a:extLst>
              <a:ext uri="{FF2B5EF4-FFF2-40B4-BE49-F238E27FC236}">
                <a16:creationId xmlns:a16="http://schemas.microsoft.com/office/drawing/2014/main" id="{3E4AE6E8-5D49-80A0-B039-6D60B881F617}"/>
              </a:ext>
            </a:extLst>
          </p:cNvPr>
          <p:cNvSpPr>
            <a:spLocks noGrp="1"/>
          </p:cNvSpPr>
          <p:nvPr>
            <p:ph idx="1"/>
          </p:nvPr>
        </p:nvSpPr>
        <p:spPr>
          <a:xfrm>
            <a:off x="457200" y="1574666"/>
            <a:ext cx="4293800" cy="2500626"/>
          </a:xfrm>
        </p:spPr>
        <p:txBody>
          <a:bodyPr vert="horz" lIns="91440" tIns="45720" rIns="91440" bIns="45720" rtlCol="0" anchor="t">
            <a:normAutofit fontScale="77500" lnSpcReduction="20000"/>
          </a:bodyPr>
          <a:lstStyle/>
          <a:p>
            <a:pPr>
              <a:buFont typeface="Calibri"/>
              <a:buChar char="-"/>
            </a:pPr>
            <a:r>
              <a:rPr lang="en-US" sz="1600">
                <a:cs typeface="Arial"/>
              </a:rPr>
              <a:t>The </a:t>
            </a:r>
            <a:r>
              <a:rPr lang="en-US" sz="1600" b="1" u="sng">
                <a:cs typeface="Arial"/>
              </a:rPr>
              <a:t>accuracy score</a:t>
            </a:r>
            <a:r>
              <a:rPr lang="en-US" sz="1600">
                <a:cs typeface="Arial"/>
              </a:rPr>
              <a:t> for previous bit experiment was high even with large sequence lengths</a:t>
            </a:r>
            <a:endParaRPr lang="en-US">
              <a:cs typeface="Arial"/>
            </a:endParaRPr>
          </a:p>
          <a:p>
            <a:pPr lvl="1">
              <a:buFont typeface="Courier New"/>
              <a:buChar char="o"/>
            </a:pPr>
            <a:r>
              <a:rPr lang="en-US" sz="1200">
                <a:cs typeface="Arial"/>
              </a:rPr>
              <a:t>A matrix only needed to remember the previous bit</a:t>
            </a:r>
          </a:p>
          <a:p>
            <a:pPr marL="457200" lvl="1" indent="0">
              <a:buNone/>
            </a:pPr>
            <a:endParaRPr lang="en-US" sz="1200">
              <a:cs typeface="Arial"/>
            </a:endParaRPr>
          </a:p>
          <a:p>
            <a:pPr>
              <a:buFont typeface="Calibri"/>
              <a:buChar char="-"/>
            </a:pPr>
            <a:r>
              <a:rPr lang="en-US" sz="1600">
                <a:cs typeface="Arial"/>
              </a:rPr>
              <a:t>Memory task </a:t>
            </a:r>
            <a:r>
              <a:rPr lang="en-US" sz="1600" b="1" u="sng">
                <a:cs typeface="Arial"/>
              </a:rPr>
              <a:t>requires the A matrix to 'remember' more</a:t>
            </a:r>
            <a:r>
              <a:rPr lang="en-US" sz="1600">
                <a:cs typeface="Arial"/>
              </a:rPr>
              <a:t>. With recurrent calling of A matrix and memory requirements:</a:t>
            </a:r>
          </a:p>
          <a:p>
            <a:pPr lvl="1">
              <a:buFont typeface="Courier New"/>
              <a:buChar char="o"/>
            </a:pPr>
            <a:r>
              <a:rPr lang="en-US" sz="1200">
                <a:cs typeface="Arial"/>
              </a:rPr>
              <a:t>Size of logits and hidden state vector components consistently increase in magnitude as the sequence length increases</a:t>
            </a:r>
          </a:p>
          <a:p>
            <a:pPr lvl="1">
              <a:buFont typeface="Courier New"/>
              <a:buChar char="o"/>
            </a:pPr>
            <a:r>
              <a:rPr lang="en-US" sz="1200">
                <a:cs typeface="Arial"/>
              </a:rPr>
              <a:t>Previous bit task needed less memory requirement</a:t>
            </a:r>
          </a:p>
          <a:p>
            <a:pPr lvl="1" indent="-285750">
              <a:buFont typeface="Courier New"/>
              <a:buChar char="o"/>
            </a:pPr>
            <a:endParaRPr lang="en-US" sz="1200">
              <a:cs typeface="Arial"/>
            </a:endParaRPr>
          </a:p>
          <a:p>
            <a:pPr marL="285750" indent="-285750">
              <a:buFont typeface="Calibri"/>
              <a:buChar char="-"/>
            </a:pPr>
            <a:r>
              <a:rPr lang="en-US" sz="1600">
                <a:cs typeface="Arial"/>
              </a:rPr>
              <a:t>The </a:t>
            </a:r>
            <a:r>
              <a:rPr lang="en-US" sz="1600" b="1" u="sng">
                <a:cs typeface="Arial"/>
              </a:rPr>
              <a:t>convolution kernel implementation</a:t>
            </a:r>
            <a:r>
              <a:rPr lang="en-US" sz="1600">
                <a:cs typeface="Arial"/>
              </a:rPr>
              <a:t> may have avoided this problem</a:t>
            </a:r>
          </a:p>
          <a:p>
            <a:pPr>
              <a:buFont typeface="Calibri"/>
              <a:buChar char="-"/>
            </a:pPr>
            <a:endParaRPr lang="en-US" sz="1600">
              <a:cs typeface="Arial"/>
            </a:endParaRPr>
          </a:p>
          <a:p>
            <a:pPr>
              <a:buFont typeface="Calibri"/>
              <a:buChar char="-"/>
            </a:pPr>
            <a:endParaRPr lang="en-US" sz="1600">
              <a:cs typeface="Arial"/>
            </a:endParaRPr>
          </a:p>
        </p:txBody>
      </p:sp>
      <p:pic>
        <p:nvPicPr>
          <p:cNvPr id="2" name="Picture 1" descr="A screenshot of a computer code&#10;&#10;AI-generated content may be incorrect.">
            <a:extLst>
              <a:ext uri="{FF2B5EF4-FFF2-40B4-BE49-F238E27FC236}">
                <a16:creationId xmlns:a16="http://schemas.microsoft.com/office/drawing/2014/main" id="{7BA59295-8AD4-5571-0D6D-ED494AEF5EAC}"/>
              </a:ext>
            </a:extLst>
          </p:cNvPr>
          <p:cNvPicPr>
            <a:picLocks noChangeAspect="1"/>
          </p:cNvPicPr>
          <p:nvPr/>
        </p:nvPicPr>
        <p:blipFill>
          <a:blip r:embed="rId3"/>
          <a:stretch>
            <a:fillRect/>
          </a:stretch>
        </p:blipFill>
        <p:spPr>
          <a:xfrm>
            <a:off x="555267" y="3722949"/>
            <a:ext cx="1511780" cy="1245798"/>
          </a:xfrm>
          <a:prstGeom prst="rect">
            <a:avLst/>
          </a:prstGeom>
        </p:spPr>
      </p:pic>
      <p:pic>
        <p:nvPicPr>
          <p:cNvPr id="6" name="Picture 5">
            <a:extLst>
              <a:ext uri="{FF2B5EF4-FFF2-40B4-BE49-F238E27FC236}">
                <a16:creationId xmlns:a16="http://schemas.microsoft.com/office/drawing/2014/main" id="{A80FD10D-2DF5-828E-5E39-2B170F006B1F}"/>
              </a:ext>
            </a:extLst>
          </p:cNvPr>
          <p:cNvPicPr>
            <a:picLocks noChangeAspect="1"/>
          </p:cNvPicPr>
          <p:nvPr/>
        </p:nvPicPr>
        <p:blipFill>
          <a:blip r:embed="rId4"/>
          <a:stretch>
            <a:fillRect/>
          </a:stretch>
        </p:blipFill>
        <p:spPr>
          <a:xfrm>
            <a:off x="6441304" y="1578094"/>
            <a:ext cx="2590441" cy="208113"/>
          </a:xfrm>
          <a:prstGeom prst="rect">
            <a:avLst/>
          </a:prstGeom>
        </p:spPr>
      </p:pic>
      <p:pic>
        <p:nvPicPr>
          <p:cNvPr id="7" name="Picture 6" descr="A close-up of numbers&#10;&#10;AI-generated content may be incorrect.">
            <a:extLst>
              <a:ext uri="{FF2B5EF4-FFF2-40B4-BE49-F238E27FC236}">
                <a16:creationId xmlns:a16="http://schemas.microsoft.com/office/drawing/2014/main" id="{FD59E7C5-9CA2-3673-0C69-5CC037E1AA8F}"/>
              </a:ext>
            </a:extLst>
          </p:cNvPr>
          <p:cNvPicPr>
            <a:picLocks noChangeAspect="1"/>
          </p:cNvPicPr>
          <p:nvPr/>
        </p:nvPicPr>
        <p:blipFill>
          <a:blip r:embed="rId5"/>
          <a:stretch>
            <a:fillRect/>
          </a:stretch>
        </p:blipFill>
        <p:spPr>
          <a:xfrm>
            <a:off x="3292423" y="3733367"/>
            <a:ext cx="1460741" cy="1229625"/>
          </a:xfrm>
          <a:prstGeom prst="rect">
            <a:avLst/>
          </a:prstGeom>
        </p:spPr>
      </p:pic>
      <p:sp>
        <p:nvSpPr>
          <p:cNvPr id="9" name="Content Placeholder 4">
            <a:extLst>
              <a:ext uri="{FF2B5EF4-FFF2-40B4-BE49-F238E27FC236}">
                <a16:creationId xmlns:a16="http://schemas.microsoft.com/office/drawing/2014/main" id="{1D3ABA9D-3604-DAEB-64BC-5C2A3E4B7254}"/>
              </a:ext>
            </a:extLst>
          </p:cNvPr>
          <p:cNvSpPr txBox="1">
            <a:spLocks/>
          </p:cNvSpPr>
          <p:nvPr/>
        </p:nvSpPr>
        <p:spPr>
          <a:xfrm>
            <a:off x="1731034" y="4164028"/>
            <a:ext cx="1749008" cy="354806"/>
          </a:xfrm>
          <a:prstGeom prst="rect">
            <a:avLst/>
          </a:prstGeom>
        </p:spPr>
        <p:txBody>
          <a:bodyPr vert="horz" lIns="91440" tIns="45720" rIns="91440" bIns="45720" rtlCol="0" anchor="t">
            <a:normAutofit fontScale="62500" lnSpcReduction="20000"/>
          </a:bodyPr>
          <a:lstStyle>
            <a:lvl1pPr marL="342900" indent="-342900" algn="l" defTabSz="457200" rtl="0" eaLnBrk="1" latinLnBrk="0" hangingPunct="1">
              <a:spcBef>
                <a:spcPct val="20000"/>
              </a:spcBef>
              <a:buFont typeface="Arial"/>
              <a:buChar char="•"/>
              <a:defRPr sz="3200" kern="1200">
                <a:solidFill>
                  <a:schemeClr val="bg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buFont typeface="Calibri"/>
              <a:buChar char="-"/>
            </a:pPr>
            <a:r>
              <a:rPr lang="en-US" sz="1600">
                <a:cs typeface="Arial"/>
              </a:rPr>
              <a:t>From T = 10 to T = 10,000</a:t>
            </a:r>
          </a:p>
        </p:txBody>
      </p:sp>
      <p:pic>
        <p:nvPicPr>
          <p:cNvPr id="10" name="Picture 9" descr="A screenshot of a computer code&#10;&#10;AI-generated content may be incorrect.">
            <a:extLst>
              <a:ext uri="{FF2B5EF4-FFF2-40B4-BE49-F238E27FC236}">
                <a16:creationId xmlns:a16="http://schemas.microsoft.com/office/drawing/2014/main" id="{0682E144-25E3-6FE9-9530-DBD2F92CE87D}"/>
              </a:ext>
            </a:extLst>
          </p:cNvPr>
          <p:cNvPicPr>
            <a:picLocks noChangeAspect="1"/>
          </p:cNvPicPr>
          <p:nvPr/>
        </p:nvPicPr>
        <p:blipFill>
          <a:blip r:embed="rId6"/>
          <a:stretch>
            <a:fillRect/>
          </a:stretch>
        </p:blipFill>
        <p:spPr>
          <a:xfrm>
            <a:off x="4858109" y="2230466"/>
            <a:ext cx="1702999" cy="1189368"/>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B69A6A14-4164-9598-52A8-E6E7FBE14914}"/>
              </a:ext>
            </a:extLst>
          </p:cNvPr>
          <p:cNvPicPr>
            <a:picLocks noChangeAspect="1"/>
          </p:cNvPicPr>
          <p:nvPr/>
        </p:nvPicPr>
        <p:blipFill>
          <a:blip r:embed="rId7"/>
          <a:stretch>
            <a:fillRect/>
          </a:stretch>
        </p:blipFill>
        <p:spPr>
          <a:xfrm>
            <a:off x="6981523" y="1789981"/>
            <a:ext cx="1509417" cy="3094727"/>
          </a:xfrm>
          <a:prstGeom prst="rect">
            <a:avLst/>
          </a:prstGeom>
        </p:spPr>
      </p:pic>
    </p:spTree>
    <p:extLst>
      <p:ext uri="{BB962C8B-B14F-4D97-AF65-F5344CB8AC3E}">
        <p14:creationId xmlns:p14="http://schemas.microsoft.com/office/powerpoint/2010/main" val="941475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81755-570B-E1DD-6F31-2C170DEF67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49BB1D-BDFF-0D32-5C6B-6E31525476C9}"/>
              </a:ext>
            </a:extLst>
          </p:cNvPr>
          <p:cNvSpPr>
            <a:spLocks noGrp="1"/>
          </p:cNvSpPr>
          <p:nvPr>
            <p:ph type="title"/>
          </p:nvPr>
        </p:nvSpPr>
        <p:spPr/>
        <p:txBody>
          <a:bodyPr>
            <a:normAutofit/>
          </a:bodyPr>
          <a:lstStyle/>
          <a:p>
            <a:r>
              <a:rPr lang="en-US" sz="3600" b="1" u="sng"/>
              <a:t>Challenges + What We Learned</a:t>
            </a:r>
            <a:endParaRPr lang="en-US" sz="3600" b="1" u="sng">
              <a:cs typeface="Arial"/>
            </a:endParaRPr>
          </a:p>
        </p:txBody>
      </p:sp>
      <p:sp>
        <p:nvSpPr>
          <p:cNvPr id="5" name="Content Placeholder 4">
            <a:extLst>
              <a:ext uri="{FF2B5EF4-FFF2-40B4-BE49-F238E27FC236}">
                <a16:creationId xmlns:a16="http://schemas.microsoft.com/office/drawing/2014/main" id="{85806D63-75F7-629C-4352-2112BF08D61F}"/>
              </a:ext>
            </a:extLst>
          </p:cNvPr>
          <p:cNvSpPr>
            <a:spLocks noGrp="1"/>
          </p:cNvSpPr>
          <p:nvPr>
            <p:ph idx="1"/>
          </p:nvPr>
        </p:nvSpPr>
        <p:spPr/>
        <p:txBody>
          <a:bodyPr vert="horz" lIns="91440" tIns="45720" rIns="91440" bIns="45720" rtlCol="0" anchor="t">
            <a:normAutofit/>
          </a:bodyPr>
          <a:lstStyle/>
          <a:p>
            <a:r>
              <a:rPr lang="en-US" sz="1600" b="1" u="sng">
                <a:cs typeface="Arial"/>
              </a:rPr>
              <a:t>Challenges</a:t>
            </a:r>
            <a:r>
              <a:rPr lang="en-US" sz="1600">
                <a:cs typeface="Arial"/>
              </a:rPr>
              <a:t>:</a:t>
            </a:r>
            <a:endParaRPr lang="en-US" sz="1600"/>
          </a:p>
          <a:p>
            <a:pPr lvl="1">
              <a:buFont typeface="Courier New"/>
              <a:buChar char="o"/>
            </a:pPr>
            <a:r>
              <a:rPr lang="en-US" sz="1600">
                <a:cs typeface="Arial"/>
              </a:rPr>
              <a:t>Interpreting </a:t>
            </a:r>
            <a:r>
              <a:rPr lang="en-US" sz="1600" err="1">
                <a:cs typeface="Arial"/>
              </a:rPr>
              <a:t>HiPPO</a:t>
            </a:r>
            <a:r>
              <a:rPr lang="en-US" sz="1600">
                <a:cs typeface="Arial"/>
              </a:rPr>
              <a:t> and discretization math</a:t>
            </a:r>
          </a:p>
          <a:p>
            <a:pPr lvl="1">
              <a:buFont typeface="Courier New"/>
              <a:buChar char="o"/>
            </a:pPr>
            <a:r>
              <a:rPr lang="en-US" sz="1600">
                <a:cs typeface="Arial"/>
              </a:rPr>
              <a:t>Debugging gradients and initialization</a:t>
            </a:r>
          </a:p>
          <a:p>
            <a:pPr lvl="1">
              <a:buFont typeface="Courier New"/>
              <a:buChar char="o"/>
            </a:pPr>
            <a:r>
              <a:rPr lang="en-US" sz="1600">
                <a:cs typeface="Arial"/>
              </a:rPr>
              <a:t>Adapting a complex model to minimal working form</a:t>
            </a:r>
          </a:p>
          <a:p>
            <a:r>
              <a:rPr lang="en-US" sz="1600" b="1" u="sng">
                <a:cs typeface="Arial"/>
              </a:rPr>
              <a:t>What we learned</a:t>
            </a:r>
            <a:r>
              <a:rPr lang="en-US" sz="1600">
                <a:cs typeface="Arial"/>
              </a:rPr>
              <a:t>:</a:t>
            </a:r>
          </a:p>
          <a:p>
            <a:pPr lvl="1">
              <a:buFont typeface="Courier New"/>
              <a:buChar char="o"/>
            </a:pPr>
            <a:r>
              <a:rPr lang="en-US" sz="1600">
                <a:cs typeface="Arial"/>
              </a:rPr>
              <a:t>Discretizing continuous-time systems</a:t>
            </a:r>
          </a:p>
          <a:p>
            <a:pPr lvl="1">
              <a:buFont typeface="Courier New"/>
              <a:buChar char="o"/>
            </a:pPr>
            <a:r>
              <a:rPr lang="en-US" sz="1600" err="1">
                <a:cs typeface="Arial"/>
              </a:rPr>
              <a:t>HiPPO's</a:t>
            </a:r>
            <a:r>
              <a:rPr lang="en-US" sz="1600">
                <a:cs typeface="Arial"/>
              </a:rPr>
              <a:t> role in memory and sequences</a:t>
            </a:r>
          </a:p>
          <a:p>
            <a:pPr lvl="1">
              <a:buFont typeface="Courier New"/>
              <a:buChar char="o"/>
            </a:pPr>
            <a:r>
              <a:rPr lang="en-US" sz="1600">
                <a:cs typeface="Arial"/>
              </a:rPr>
              <a:t>Structured matrices enable long-range learning</a:t>
            </a:r>
          </a:p>
          <a:p>
            <a:pPr lvl="1">
              <a:buFont typeface="Courier New"/>
              <a:buChar char="o"/>
            </a:pPr>
            <a:r>
              <a:rPr lang="en-US" sz="1600">
                <a:cs typeface="Arial"/>
              </a:rPr>
              <a:t>Balancing theory with implementation tradeoffs</a:t>
            </a:r>
          </a:p>
          <a:p>
            <a:pPr marL="0" indent="0">
              <a:buNone/>
            </a:pPr>
            <a:endParaRPr lang="en-US" sz="1600">
              <a:cs typeface="Arial"/>
            </a:endParaRPr>
          </a:p>
          <a:p>
            <a:endParaRPr lang="en-US" sz="1600">
              <a:cs typeface="Arial"/>
            </a:endParaRPr>
          </a:p>
        </p:txBody>
      </p:sp>
      <p:pic>
        <p:nvPicPr>
          <p:cNvPr id="2" name="Picture 1" descr="A black and white image of a dotted line&#10;&#10;AI-generated content may be incorrect.">
            <a:extLst>
              <a:ext uri="{FF2B5EF4-FFF2-40B4-BE49-F238E27FC236}">
                <a16:creationId xmlns:a16="http://schemas.microsoft.com/office/drawing/2014/main" id="{FB28573B-06F0-4001-A81A-9782E8AC36EE}"/>
              </a:ext>
            </a:extLst>
          </p:cNvPr>
          <p:cNvPicPr>
            <a:picLocks noChangeAspect="1"/>
          </p:cNvPicPr>
          <p:nvPr/>
        </p:nvPicPr>
        <p:blipFill>
          <a:blip r:embed="rId3"/>
          <a:stretch>
            <a:fillRect/>
          </a:stretch>
        </p:blipFill>
        <p:spPr>
          <a:xfrm>
            <a:off x="6262461" y="1935161"/>
            <a:ext cx="2125437" cy="2125891"/>
          </a:xfrm>
          <a:prstGeom prst="rect">
            <a:avLst/>
          </a:prstGeom>
        </p:spPr>
      </p:pic>
    </p:spTree>
    <p:extLst>
      <p:ext uri="{BB962C8B-B14F-4D97-AF65-F5344CB8AC3E}">
        <p14:creationId xmlns:p14="http://schemas.microsoft.com/office/powerpoint/2010/main" val="1333153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01D7B-239A-2DC1-84D9-2E36D68313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B6E6C9-A8D9-3152-7889-7E79D01CD47D}"/>
              </a:ext>
            </a:extLst>
          </p:cNvPr>
          <p:cNvSpPr>
            <a:spLocks noGrp="1"/>
          </p:cNvSpPr>
          <p:nvPr>
            <p:ph type="title"/>
          </p:nvPr>
        </p:nvSpPr>
        <p:spPr/>
        <p:txBody>
          <a:bodyPr>
            <a:normAutofit/>
          </a:bodyPr>
          <a:lstStyle/>
          <a:p>
            <a:r>
              <a:rPr lang="en-US" sz="3600" b="1" u="sng"/>
              <a:t>Future Work</a:t>
            </a:r>
          </a:p>
        </p:txBody>
      </p:sp>
      <p:sp>
        <p:nvSpPr>
          <p:cNvPr id="5" name="Content Placeholder 4">
            <a:extLst>
              <a:ext uri="{FF2B5EF4-FFF2-40B4-BE49-F238E27FC236}">
                <a16:creationId xmlns:a16="http://schemas.microsoft.com/office/drawing/2014/main" id="{AF21ED7C-82B9-6F10-53F1-346EC7F7F39A}"/>
              </a:ext>
            </a:extLst>
          </p:cNvPr>
          <p:cNvSpPr>
            <a:spLocks noGrp="1"/>
          </p:cNvSpPr>
          <p:nvPr>
            <p:ph idx="1"/>
          </p:nvPr>
        </p:nvSpPr>
        <p:spPr>
          <a:xfrm>
            <a:off x="457200" y="1682496"/>
            <a:ext cx="4982030" cy="2953512"/>
          </a:xfrm>
        </p:spPr>
        <p:txBody>
          <a:bodyPr vert="horz" lIns="91440" tIns="45720" rIns="91440" bIns="45720" rtlCol="0" anchor="t">
            <a:normAutofit fontScale="92500"/>
          </a:bodyPr>
          <a:lstStyle/>
          <a:p>
            <a:r>
              <a:rPr lang="en-US" sz="1600">
                <a:cs typeface="Arial"/>
              </a:rPr>
              <a:t>Compare performance to </a:t>
            </a:r>
            <a:r>
              <a:rPr lang="en-US" sz="1600" b="1" u="sng">
                <a:cs typeface="Arial"/>
              </a:rPr>
              <a:t>baseline sequence models</a:t>
            </a:r>
            <a:r>
              <a:rPr lang="en-US" sz="1600">
                <a:cs typeface="Arial"/>
              </a:rPr>
              <a:t> (e.g. RNN, GRU, Transformers) on the same tasks</a:t>
            </a:r>
          </a:p>
          <a:p>
            <a:r>
              <a:rPr lang="en-US" sz="1600">
                <a:cs typeface="Arial"/>
              </a:rPr>
              <a:t>Try more </a:t>
            </a:r>
            <a:r>
              <a:rPr lang="en-US" sz="1600" b="1" u="sng">
                <a:cs typeface="Arial"/>
              </a:rPr>
              <a:t>advanced S4 variants</a:t>
            </a:r>
            <a:r>
              <a:rPr lang="en-US" sz="1600">
                <a:cs typeface="Arial"/>
              </a:rPr>
              <a:t> (e.g., S4D, DSS)</a:t>
            </a:r>
          </a:p>
          <a:p>
            <a:r>
              <a:rPr lang="en-US" sz="1600">
                <a:cs typeface="Arial"/>
              </a:rPr>
              <a:t>Implement </a:t>
            </a:r>
            <a:r>
              <a:rPr lang="en-US" sz="1600" b="1" u="sng">
                <a:cs typeface="Arial"/>
              </a:rPr>
              <a:t>full convolution kernel</a:t>
            </a:r>
            <a:r>
              <a:rPr lang="en-US" sz="1600">
                <a:cs typeface="Arial"/>
              </a:rPr>
              <a:t> via Cauchy matrix + FFT</a:t>
            </a:r>
          </a:p>
          <a:p>
            <a:r>
              <a:rPr lang="en-US" sz="1600">
                <a:cs typeface="Arial"/>
              </a:rPr>
              <a:t>Apply model to </a:t>
            </a:r>
            <a:r>
              <a:rPr lang="en-US" sz="1600" b="1" u="sng">
                <a:cs typeface="Arial"/>
              </a:rPr>
              <a:t>real-world</a:t>
            </a:r>
            <a:r>
              <a:rPr lang="en-US" sz="1600">
                <a:cs typeface="Arial"/>
              </a:rPr>
              <a:t> physical sequence data:</a:t>
            </a:r>
          </a:p>
          <a:p>
            <a:pPr lvl="1">
              <a:buFont typeface="Courier New"/>
              <a:buChar char="o"/>
            </a:pPr>
            <a:r>
              <a:rPr lang="en-US" sz="1200">
                <a:cs typeface="Arial"/>
              </a:rPr>
              <a:t>Mechanical: pendulums, oscillators</a:t>
            </a:r>
          </a:p>
          <a:p>
            <a:pPr lvl="1">
              <a:buFont typeface="Courier New"/>
              <a:buChar char="o"/>
            </a:pPr>
            <a:r>
              <a:rPr lang="en-US" sz="1200">
                <a:cs typeface="Arial"/>
              </a:rPr>
              <a:t>Fluid dynamics: wave propagation</a:t>
            </a:r>
          </a:p>
          <a:p>
            <a:pPr lvl="1">
              <a:buFont typeface="Courier New"/>
              <a:buChar char="o"/>
            </a:pPr>
            <a:r>
              <a:rPr lang="en-US" sz="1200">
                <a:cs typeface="Arial"/>
              </a:rPr>
              <a:t>Climate/weather models: temperature, wind, humidity over time</a:t>
            </a:r>
          </a:p>
          <a:p>
            <a:pPr lvl="1">
              <a:buFont typeface="Courier New"/>
              <a:buChar char="o"/>
            </a:pPr>
            <a:r>
              <a:rPr lang="en-US" sz="1200">
                <a:cs typeface="Arial"/>
              </a:rPr>
              <a:t>Biological signals: ECG/EKG, neural signals</a:t>
            </a:r>
          </a:p>
          <a:p>
            <a:r>
              <a:rPr lang="en-US" sz="1600" b="1" u="sng">
                <a:cs typeface="Arial"/>
              </a:rPr>
              <a:t>Visualize internal state</a:t>
            </a:r>
            <a:r>
              <a:rPr lang="en-US" sz="1600">
                <a:cs typeface="Arial"/>
              </a:rPr>
              <a:t> dynamics over time</a:t>
            </a:r>
          </a:p>
          <a:p>
            <a:pPr marL="0" indent="0">
              <a:buNone/>
            </a:pPr>
            <a:endParaRPr lang="en-US" sz="1600">
              <a:cs typeface="Arial"/>
            </a:endParaRPr>
          </a:p>
          <a:p>
            <a:endParaRPr lang="en-US" sz="1600">
              <a:cs typeface="Arial"/>
            </a:endParaRPr>
          </a:p>
        </p:txBody>
      </p:sp>
      <p:pic>
        <p:nvPicPr>
          <p:cNvPr id="2" name="Picture 1">
            <a:extLst>
              <a:ext uri="{FF2B5EF4-FFF2-40B4-BE49-F238E27FC236}">
                <a16:creationId xmlns:a16="http://schemas.microsoft.com/office/drawing/2014/main" id="{1A0D04EA-8725-C492-4766-0989868B578F}"/>
              </a:ext>
            </a:extLst>
          </p:cNvPr>
          <p:cNvPicPr>
            <a:picLocks noChangeAspect="1"/>
          </p:cNvPicPr>
          <p:nvPr/>
        </p:nvPicPr>
        <p:blipFill>
          <a:blip r:embed="rId3"/>
          <a:stretch>
            <a:fillRect/>
          </a:stretch>
        </p:blipFill>
        <p:spPr>
          <a:xfrm>
            <a:off x="5570763" y="3272404"/>
            <a:ext cx="3118757" cy="1459140"/>
          </a:xfrm>
          <a:prstGeom prst="rect">
            <a:avLst/>
          </a:prstGeom>
        </p:spPr>
      </p:pic>
      <p:pic>
        <p:nvPicPr>
          <p:cNvPr id="3" name="Picture 2" descr="A graph showing a blue and green line&#10;&#10;AI-generated content may be incorrect.">
            <a:extLst>
              <a:ext uri="{FF2B5EF4-FFF2-40B4-BE49-F238E27FC236}">
                <a16:creationId xmlns:a16="http://schemas.microsoft.com/office/drawing/2014/main" id="{68B3E9AE-38BA-6CC9-8E7E-30D71525FCA0}"/>
              </a:ext>
            </a:extLst>
          </p:cNvPr>
          <p:cNvPicPr>
            <a:picLocks noChangeAspect="1"/>
          </p:cNvPicPr>
          <p:nvPr/>
        </p:nvPicPr>
        <p:blipFill>
          <a:blip r:embed="rId4"/>
          <a:stretch>
            <a:fillRect/>
          </a:stretch>
        </p:blipFill>
        <p:spPr>
          <a:xfrm>
            <a:off x="5569857" y="1696509"/>
            <a:ext cx="3120572" cy="1463877"/>
          </a:xfrm>
          <a:prstGeom prst="rect">
            <a:avLst/>
          </a:prstGeom>
        </p:spPr>
      </p:pic>
      <p:pic>
        <p:nvPicPr>
          <p:cNvPr id="6" name="Picture 5" descr="A black and white text&#10;&#10;AI-generated content may be incorrect.">
            <a:extLst>
              <a:ext uri="{FF2B5EF4-FFF2-40B4-BE49-F238E27FC236}">
                <a16:creationId xmlns:a16="http://schemas.microsoft.com/office/drawing/2014/main" id="{197A88FE-82F2-B00A-648E-0E8CD4117B53}"/>
              </a:ext>
            </a:extLst>
          </p:cNvPr>
          <p:cNvPicPr>
            <a:picLocks noChangeAspect="1"/>
          </p:cNvPicPr>
          <p:nvPr/>
        </p:nvPicPr>
        <p:blipFill>
          <a:blip r:embed="rId5"/>
          <a:stretch>
            <a:fillRect/>
          </a:stretch>
        </p:blipFill>
        <p:spPr>
          <a:xfrm>
            <a:off x="3374941" y="777798"/>
            <a:ext cx="5421526" cy="769022"/>
          </a:xfrm>
          <a:prstGeom prst="rect">
            <a:avLst/>
          </a:prstGeom>
        </p:spPr>
      </p:pic>
    </p:spTree>
    <p:extLst>
      <p:ext uri="{BB962C8B-B14F-4D97-AF65-F5344CB8AC3E}">
        <p14:creationId xmlns:p14="http://schemas.microsoft.com/office/powerpoint/2010/main" val="1836742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CBF85-0B2C-6254-7861-374B40BB60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C49D7D-6FB9-7EBC-3E84-2DBFEE28B66A}"/>
              </a:ext>
            </a:extLst>
          </p:cNvPr>
          <p:cNvSpPr>
            <a:spLocks noGrp="1"/>
          </p:cNvSpPr>
          <p:nvPr>
            <p:ph type="title"/>
          </p:nvPr>
        </p:nvSpPr>
        <p:spPr/>
        <p:txBody>
          <a:bodyPr>
            <a:normAutofit/>
          </a:bodyPr>
          <a:lstStyle/>
          <a:p>
            <a:r>
              <a:rPr lang="en-US" sz="3600" b="1" u="sng"/>
              <a:t>Conclusion</a:t>
            </a:r>
          </a:p>
        </p:txBody>
      </p:sp>
      <p:sp>
        <p:nvSpPr>
          <p:cNvPr id="5" name="Content Placeholder 4">
            <a:extLst>
              <a:ext uri="{FF2B5EF4-FFF2-40B4-BE49-F238E27FC236}">
                <a16:creationId xmlns:a16="http://schemas.microsoft.com/office/drawing/2014/main" id="{0970C11F-AF6D-244A-31B4-EFBF0FF0D172}"/>
              </a:ext>
            </a:extLst>
          </p:cNvPr>
          <p:cNvSpPr>
            <a:spLocks noGrp="1"/>
          </p:cNvSpPr>
          <p:nvPr>
            <p:ph idx="1"/>
          </p:nvPr>
        </p:nvSpPr>
        <p:spPr>
          <a:xfrm>
            <a:off x="457200" y="1682496"/>
            <a:ext cx="4940779" cy="2953512"/>
          </a:xfrm>
        </p:spPr>
        <p:txBody>
          <a:bodyPr vert="horz" lIns="91440" tIns="45720" rIns="91440" bIns="45720" rtlCol="0" anchor="t">
            <a:normAutofit lnSpcReduction="10000"/>
          </a:bodyPr>
          <a:lstStyle/>
          <a:p>
            <a:r>
              <a:rPr lang="en-US" sz="1600">
                <a:cs typeface="Arial"/>
              </a:rPr>
              <a:t>Explored how SSMs can handle sequential data efficiently</a:t>
            </a:r>
          </a:p>
          <a:p>
            <a:r>
              <a:rPr lang="en-US" sz="1600">
                <a:cs typeface="Arial"/>
              </a:rPr>
              <a:t>Learned how mathematical structure (</a:t>
            </a:r>
            <a:r>
              <a:rPr lang="en-US" sz="1600" err="1">
                <a:cs typeface="Arial"/>
              </a:rPr>
              <a:t>HiPPO</a:t>
            </a:r>
            <a:r>
              <a:rPr lang="en-US" sz="1600">
                <a:cs typeface="Arial"/>
              </a:rPr>
              <a:t>, discretization) enables memory in models</a:t>
            </a:r>
          </a:p>
          <a:p>
            <a:r>
              <a:rPr lang="en-US" sz="1600">
                <a:cs typeface="Arial"/>
              </a:rPr>
              <a:t>Built and trained a simplified S4 system from scratch</a:t>
            </a:r>
          </a:p>
          <a:p>
            <a:r>
              <a:rPr lang="en-US" sz="1600">
                <a:cs typeface="Arial"/>
              </a:rPr>
              <a:t>Connected physical modeling techniques and numerical methods to improve ML architecture design</a:t>
            </a:r>
          </a:p>
          <a:p>
            <a:r>
              <a:rPr lang="en-US" sz="1600">
                <a:cs typeface="Arial"/>
              </a:rPr>
              <a:t>Identified next steps for scaling and real-world applications</a:t>
            </a:r>
          </a:p>
          <a:p>
            <a:pPr marL="0" indent="0">
              <a:buNone/>
            </a:pPr>
            <a:endParaRPr lang="en-US" sz="1600">
              <a:cs typeface="Arial"/>
            </a:endParaRPr>
          </a:p>
          <a:p>
            <a:endParaRPr lang="en-US" sz="1600">
              <a:cs typeface="Arial"/>
            </a:endParaRPr>
          </a:p>
        </p:txBody>
      </p:sp>
      <p:pic>
        <p:nvPicPr>
          <p:cNvPr id="3" name="Picture 2" descr="A collage of different shades of gray&#10;&#10;AI-generated content may be incorrect.">
            <a:extLst>
              <a:ext uri="{FF2B5EF4-FFF2-40B4-BE49-F238E27FC236}">
                <a16:creationId xmlns:a16="http://schemas.microsoft.com/office/drawing/2014/main" id="{0786C653-EFC0-35D5-99A8-89AF79018433}"/>
              </a:ext>
            </a:extLst>
          </p:cNvPr>
          <p:cNvPicPr>
            <a:picLocks noChangeAspect="1"/>
          </p:cNvPicPr>
          <p:nvPr/>
        </p:nvPicPr>
        <p:blipFill>
          <a:blip r:embed="rId3"/>
          <a:stretch>
            <a:fillRect/>
          </a:stretch>
        </p:blipFill>
        <p:spPr>
          <a:xfrm>
            <a:off x="5553794" y="2348003"/>
            <a:ext cx="3136782" cy="1633629"/>
          </a:xfrm>
          <a:prstGeom prst="rect">
            <a:avLst/>
          </a:prstGeom>
        </p:spPr>
      </p:pic>
    </p:spTree>
    <p:extLst>
      <p:ext uri="{BB962C8B-B14F-4D97-AF65-F5344CB8AC3E}">
        <p14:creationId xmlns:p14="http://schemas.microsoft.com/office/powerpoint/2010/main" val="4041914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FD1B6-8B41-FBE7-DBE8-83D6903BDA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468209-3C16-E4A1-84CD-12E1A341CA9B}"/>
              </a:ext>
            </a:extLst>
          </p:cNvPr>
          <p:cNvSpPr>
            <a:spLocks noGrp="1"/>
          </p:cNvSpPr>
          <p:nvPr>
            <p:ph type="title"/>
          </p:nvPr>
        </p:nvSpPr>
        <p:spPr/>
        <p:txBody>
          <a:bodyPr>
            <a:normAutofit/>
          </a:bodyPr>
          <a:lstStyle/>
          <a:p>
            <a:r>
              <a:rPr lang="en-US" sz="3600" b="1" u="sng"/>
              <a:t>Sources</a:t>
            </a:r>
          </a:p>
        </p:txBody>
      </p:sp>
      <p:sp>
        <p:nvSpPr>
          <p:cNvPr id="5" name="Content Placeholder 4">
            <a:extLst>
              <a:ext uri="{FF2B5EF4-FFF2-40B4-BE49-F238E27FC236}">
                <a16:creationId xmlns:a16="http://schemas.microsoft.com/office/drawing/2014/main" id="{11439A68-2126-5FBA-72DA-DF326D041C78}"/>
              </a:ext>
            </a:extLst>
          </p:cNvPr>
          <p:cNvSpPr>
            <a:spLocks noGrp="1"/>
          </p:cNvSpPr>
          <p:nvPr>
            <p:ph idx="1"/>
          </p:nvPr>
        </p:nvSpPr>
        <p:spPr/>
        <p:txBody>
          <a:bodyPr vert="horz" lIns="91440" tIns="45720" rIns="91440" bIns="45720" rtlCol="0" anchor="t">
            <a:normAutofit/>
          </a:bodyPr>
          <a:lstStyle/>
          <a:p>
            <a:pPr marL="0" indent="0">
              <a:buNone/>
            </a:pPr>
            <a:r>
              <a:rPr lang="en-US" sz="1600">
                <a:cs typeface="Arial"/>
              </a:rPr>
              <a:t>[1] Gu, Albert et al. "Efficiently Modeling Long Sequences with Structured State Spaces." </a:t>
            </a:r>
            <a:r>
              <a:rPr lang="en-US" sz="1600" i="1">
                <a:cs typeface="Arial"/>
              </a:rPr>
              <a:t>2022 </a:t>
            </a:r>
            <a:r>
              <a:rPr lang="en-US" sz="1600">
                <a:cs typeface="Arial"/>
                <a:hlinkClick r:id="rId2"/>
              </a:rPr>
              <a:t>https://arxiv.org/abs/2111.00396</a:t>
            </a:r>
            <a:r>
              <a:rPr lang="en-US" sz="1600">
                <a:cs typeface="Arial"/>
              </a:rPr>
              <a:t> </a:t>
            </a:r>
          </a:p>
          <a:p>
            <a:pPr marL="0" indent="0">
              <a:buNone/>
            </a:pPr>
            <a:endParaRPr lang="en-US" sz="1600">
              <a:cs typeface="Arial"/>
            </a:endParaRPr>
          </a:p>
          <a:p>
            <a:pPr marL="0" indent="0">
              <a:buNone/>
            </a:pPr>
            <a:r>
              <a:rPr lang="en-US" sz="1600">
                <a:cs typeface="Arial"/>
              </a:rPr>
              <a:t>[2] Gu, Albert et al. "</a:t>
            </a:r>
            <a:r>
              <a:rPr lang="en-US" sz="1600" err="1">
                <a:cs typeface="Arial"/>
              </a:rPr>
              <a:t>HiPPO</a:t>
            </a:r>
            <a:r>
              <a:rPr lang="en-US" sz="1600">
                <a:cs typeface="Arial"/>
              </a:rPr>
              <a:t>: Recurrent Memory with Optimal Polynomial Projections." </a:t>
            </a:r>
            <a:r>
              <a:rPr lang="en-US" sz="1600" i="1">
                <a:cs typeface="Arial"/>
              </a:rPr>
              <a:t>2020 </a:t>
            </a:r>
            <a:r>
              <a:rPr lang="en-US" sz="1600">
                <a:cs typeface="Arial"/>
                <a:hlinkClick r:id="rId3"/>
              </a:rPr>
              <a:t>https://arxiv.org/abs/2008.07669</a:t>
            </a:r>
            <a:r>
              <a:rPr lang="en-US" sz="1600">
                <a:cs typeface="Arial"/>
              </a:rPr>
              <a:t> </a:t>
            </a:r>
          </a:p>
          <a:p>
            <a:pPr marL="0" indent="0">
              <a:buNone/>
            </a:pPr>
            <a:endParaRPr lang="en-US" sz="1600">
              <a:cs typeface="Arial"/>
            </a:endParaRPr>
          </a:p>
          <a:p>
            <a:pPr marL="0" indent="0">
              <a:buNone/>
            </a:pPr>
            <a:r>
              <a:rPr lang="en-US" sz="1600">
                <a:cs typeface="Arial"/>
              </a:rPr>
              <a:t>[3] </a:t>
            </a:r>
            <a:r>
              <a:rPr lang="en-US" sz="1600" err="1">
                <a:cs typeface="Arial"/>
              </a:rPr>
              <a:t>Bourdois</a:t>
            </a:r>
            <a:r>
              <a:rPr lang="en-US" sz="1600">
                <a:cs typeface="Arial"/>
              </a:rPr>
              <a:t>, </a:t>
            </a:r>
            <a:r>
              <a:rPr lang="en-US" sz="1600">
                <a:ea typeface="Source Sans Pro"/>
                <a:cs typeface="Arial"/>
              </a:rPr>
              <a:t>Loïck</a:t>
            </a:r>
            <a:r>
              <a:rPr lang="en-US" sz="1600">
                <a:cs typeface="Arial"/>
              </a:rPr>
              <a:t>. "Introduction to State Space Models (S4)." </a:t>
            </a:r>
            <a:r>
              <a:rPr lang="en-US" sz="1600" i="1">
                <a:cs typeface="Arial"/>
              </a:rPr>
              <a:t>Medium.com, 2024</a:t>
            </a:r>
            <a:r>
              <a:rPr lang="en-US" sz="1600">
                <a:cs typeface="Arial"/>
              </a:rPr>
              <a:t> </a:t>
            </a:r>
            <a:r>
              <a:rPr lang="en-US" sz="1600" u="sng">
                <a:solidFill>
                  <a:srgbClr val="4493F8"/>
                </a:solidFill>
                <a:cs typeface="Arial"/>
                <a:hlinkClick r:id="rId4"/>
              </a:rPr>
              <a:t>https://huggingface.co/blog/lbourdois/get-on-the-ssm-train</a:t>
            </a:r>
            <a:endParaRPr lang="en-US" sz="1600">
              <a:cs typeface="Arial"/>
            </a:endParaRPr>
          </a:p>
        </p:txBody>
      </p:sp>
    </p:spTree>
    <p:extLst>
      <p:ext uri="{BB962C8B-B14F-4D97-AF65-F5344CB8AC3E}">
        <p14:creationId xmlns:p14="http://schemas.microsoft.com/office/powerpoint/2010/main" val="3657340193"/>
      </p:ext>
    </p:extLst>
  </p:cSld>
  <p:clrMapOvr>
    <a:masterClrMapping/>
  </p:clrMapOvr>
</p:sld>
</file>

<file path=ppt/theme/theme1.xml><?xml version="1.0" encoding="utf-8"?>
<a:theme xmlns:a="http://schemas.openxmlformats.org/drawingml/2006/main" name="16-9 Cover">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6-9 Dark Backgroun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6-9 Light Backgroun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6-9 White Backgroud">
  <a:themeElements>
    <a:clrScheme name="UT Brand Color Palette">
      <a:dk1>
        <a:srgbClr val="BE5700"/>
      </a:dk1>
      <a:lt1>
        <a:srgbClr val="FFFFFF"/>
      </a:lt1>
      <a:dk2>
        <a:srgbClr val="D6D2C3"/>
      </a:dk2>
      <a:lt2>
        <a:srgbClr val="333F48"/>
      </a:lt2>
      <a:accent1>
        <a:srgbClr val="F7961F"/>
      </a:accent1>
      <a:accent2>
        <a:srgbClr val="FFD600"/>
      </a:accent2>
      <a:accent3>
        <a:srgbClr val="A6CC57"/>
      </a:accent3>
      <a:accent4>
        <a:srgbClr val="579C41"/>
      </a:accent4>
      <a:accent5>
        <a:srgbClr val="00A8B6"/>
      </a:accent5>
      <a:accent6>
        <a:srgbClr val="005E86"/>
      </a:accent6>
      <a:hlink>
        <a:srgbClr val="BF5700"/>
      </a:hlink>
      <a:folHlink>
        <a:srgbClr val="9CAD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18</Slides>
  <Notes>16</Notes>
  <HiddenSlides>0</HiddenSlides>
  <ScaleCrop>false</ScaleCrop>
  <HeadingPairs>
    <vt:vector size="4" baseType="variant">
      <vt:variant>
        <vt:lpstr>Theme</vt:lpstr>
      </vt:variant>
      <vt:variant>
        <vt:i4>4</vt:i4>
      </vt:variant>
      <vt:variant>
        <vt:lpstr>Slide Titles</vt:lpstr>
      </vt:variant>
      <vt:variant>
        <vt:i4>18</vt:i4>
      </vt:variant>
    </vt:vector>
  </HeadingPairs>
  <TitlesOfParts>
    <vt:vector size="22" baseType="lpstr">
      <vt:lpstr>16-9 Cover</vt:lpstr>
      <vt:lpstr>16-9 Dark Background</vt:lpstr>
      <vt:lpstr>16-9 Light Background</vt:lpstr>
      <vt:lpstr>16-9 White Backgroud</vt:lpstr>
      <vt:lpstr>PowerPoint Presentation</vt:lpstr>
      <vt:lpstr>Outline</vt:lpstr>
      <vt:lpstr>What are State Space Models (SSMs)?</vt:lpstr>
      <vt:lpstr>Our Model Overview (S4)</vt:lpstr>
      <vt:lpstr>HIPPO-LegS</vt:lpstr>
      <vt:lpstr>Discretization</vt:lpstr>
      <vt:lpstr>Why S4 &gt; RNN</vt:lpstr>
      <vt:lpstr>Code Structure</vt:lpstr>
      <vt:lpstr>Training and Evaluation</vt:lpstr>
      <vt:lpstr>Previous Bit Task</vt:lpstr>
      <vt:lpstr>Previous Bit Results</vt:lpstr>
      <vt:lpstr>Memory Copy Task</vt:lpstr>
      <vt:lpstr>Memory copy – why bad results</vt:lpstr>
      <vt:lpstr>Previous bit vs. memory copy</vt:lpstr>
      <vt:lpstr>Challenges + What We Learned</vt:lpstr>
      <vt:lpstr>Future Work</vt:lpstr>
      <vt:lpstr>Conclusion</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subject/>
  <dc:creator>University Marketing and Creative Services</dc:creator>
  <cp:keywords/>
  <dc:description/>
  <cp:revision>2</cp:revision>
  <cp:lastPrinted>2011-01-24T02:49:42Z</cp:lastPrinted>
  <dcterms:created xsi:type="dcterms:W3CDTF">2011-06-30T15:04:08Z</dcterms:created>
  <dcterms:modified xsi:type="dcterms:W3CDTF">2026-01-24T19:43:10Z</dcterms:modified>
  <cp:category/>
</cp:coreProperties>
</file>